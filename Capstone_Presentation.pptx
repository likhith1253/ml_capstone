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lassification" id="{8d65521f-f662-1128-45ea-888e9b97a51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gression" id="{bd2e56b2-c4db-d079-a0b9-357bc5bda709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ustering" id="{0d18fcdd-7752-f15a-34c5-2fd73288c464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Naive Bayes</c:v>
                  </c:pt>
                  <c:pt idx="1">
                    <c:v>AdaBoost</c:v>
                  </c:pt>
                  <c:pt idx="2">
                    <c:v>Decision Tree</c:v>
                  </c:pt>
                  <c:pt idx="3">
                    <c:v>K-Nearest Neighbors</c:v>
                  </c:pt>
                  <c:pt idx="4">
                    <c:v>Gradient Boosting</c:v>
                  </c:pt>
                  <c:pt idx="5">
                    <c:v>Logistic Regression</c:v>
                  </c:pt>
                  <c:pt idx="6">
                    <c:v>Random Forest</c:v>
                  </c:pt>
                  <c:pt idx="7">
                    <c:v>Bagging</c:v>
                  </c:pt>
                  <c:pt idx="8">
                    <c:v>SVM (RBF)</c:v>
                  </c:pt>
                  <c:pt idx="9">
                    <c:v>MLP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0.7757</c:v>
                </c:pt>
                <c:pt idx="1">
                  <c:v>0.7866</c:v>
                </c:pt>
                <c:pt idx="2">
                  <c:v>0.9377</c:v>
                </c:pt>
                <c:pt idx="3">
                  <c:v>0.9491</c:v>
                </c:pt>
                <c:pt idx="4">
                  <c:v>0.9508</c:v>
                </c:pt>
                <c:pt idx="5">
                  <c:v>0.952</c:v>
                </c:pt>
                <c:pt idx="6">
                  <c:v>0.952</c:v>
                </c:pt>
                <c:pt idx="7">
                  <c:v>0.952</c:v>
                </c:pt>
                <c:pt idx="8">
                  <c:v>0.9533</c:v>
                </c:pt>
                <c:pt idx="9">
                  <c:v>0.9541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(weighted)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Naive Bayes</c:v>
                  </c:pt>
                  <c:pt idx="1">
                    <c:v>AdaBoost</c:v>
                  </c:pt>
                  <c:pt idx="2">
                    <c:v>Decision Tree</c:v>
                  </c:pt>
                  <c:pt idx="3">
                    <c:v>K-Nearest Neighbors</c:v>
                  </c:pt>
                  <c:pt idx="4">
                    <c:v>Gradient Boosting</c:v>
                  </c:pt>
                  <c:pt idx="5">
                    <c:v>Logistic Regression</c:v>
                  </c:pt>
                  <c:pt idx="6">
                    <c:v>Random Forest</c:v>
                  </c:pt>
                  <c:pt idx="7">
                    <c:v>Bagging</c:v>
                  </c:pt>
                  <c:pt idx="8">
                    <c:v>SVM (RBF)</c:v>
                  </c:pt>
                  <c:pt idx="9">
                    <c:v>MLP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0.7746</c:v>
                </c:pt>
                <c:pt idx="1">
                  <c:v>0.7578</c:v>
                </c:pt>
                <c:pt idx="2">
                  <c:v>0.9377</c:v>
                </c:pt>
                <c:pt idx="3">
                  <c:v>0.9491</c:v>
                </c:pt>
                <c:pt idx="4">
                  <c:v>0.9507</c:v>
                </c:pt>
                <c:pt idx="5">
                  <c:v>0.952</c:v>
                </c:pt>
                <c:pt idx="6">
                  <c:v>0.9519</c:v>
                </c:pt>
                <c:pt idx="7">
                  <c:v>0.952</c:v>
                </c:pt>
                <c:pt idx="8">
                  <c:v>0.9533</c:v>
                </c:pt>
                <c:pt idx="9">
                  <c:v>0.9542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b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B3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Cambria"/>
              </a:defRPr>
            </a:pPr>
            <a:r>
              <a:rPr sz="1200" b="0" i="0" u="none" strike="noStrike">
                <a:solidFill>
                  <a:srgbClr val="12343B"/>
                </a:solidFill>
                <a:latin typeface="Cambria"/>
              </a:rPr>
              <a:t>Test R2 (models above -5)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R2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Linear Regression</c:v>
                  </c:pt>
                  <c:pt idx="1">
                    <c:v>Ridge</c:v>
                  </c:pt>
                  <c:pt idx="2">
                    <c:v>ElasticNet</c:v>
                  </c:pt>
                  <c:pt idx="3">
                    <c:v>Gradient Boosting</c:v>
                  </c:pt>
                  <c:pt idx="4">
                    <c:v>KNN (k=5)</c:v>
                  </c:pt>
                  <c:pt idx="5">
                    <c:v>Random Forest</c:v>
                  </c:pt>
                  <c:pt idx="6">
                    <c:v>Decision Tree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-4.4362</c:v>
                </c:pt>
                <c:pt idx="1">
                  <c:v>-4.338</c:v>
                </c:pt>
                <c:pt idx="2">
                  <c:v>-2.0803</c:v>
                </c:pt>
                <c:pt idx="3">
                  <c:v>-0.1466</c:v>
                </c:pt>
                <c:pt idx="4">
                  <c:v>-0.0176</c:v>
                </c:pt>
                <c:pt idx="5">
                  <c:v>0.374</c:v>
                </c:pt>
                <c:pt idx="6">
                  <c:v>0.621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B3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6"/>
        </c:scaling>
        <c:delete val="0"/>
        <c:axPos val="b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K-Means</c:v>
                </c:pt>
              </c:strCache>
            </c:strRef>
          </c:tx>
          <c:spPr>
            <a:solidFill>
              <a:srgbClr val="B8821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Silhouette</c:v>
                  </c:pt>
                  <c:pt idx="1">
                    <c:v>Davies-Bouldin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0.2087</c:v>
                </c:pt>
                <c:pt idx="1">
                  <c:v>1.4673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Agglomerative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Silhouette</c:v>
                  </c:pt>
                  <c:pt idx="1">
                    <c:v>Davies-Bouldin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0.4529</c:v>
                </c:pt>
                <c:pt idx="1">
                  <c:v>1.3782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B3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B2B3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2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1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each variety's probability with a linear score passed through softmax, so the decision boundaries are flat in feature space.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0.9520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0.9520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0.9595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0.9976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10.0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3 of 10 on accuracy.</a:t>
            </a:r>
            <a:endParaRPr lang="en-US" sz="1100" dirty="0"/>
          </a:p>
        </p:txBody>
      </p:sp>
      <p:pic>
        <p:nvPicPr>
          <p:cNvPr id="10" name="anim figure" descr="Logistic Regression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2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 bean by majority vote of the k most similar training beans, measured by Euclidean distance on scaled features.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0.9491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0.9491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0.9580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0.9953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= 9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7 of 10 on accuracy.</a:t>
            </a:r>
            <a:endParaRPr lang="en-US" sz="1100" dirty="0"/>
          </a:p>
        </p:txBody>
      </p:sp>
      <p:pic>
        <p:nvPicPr>
          <p:cNvPr id="10" name="anim figure" descr="K-Nearest Neighbors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3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data again and again on one feature threshold at a time, choosing each split to make the groups purer.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0.9377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0.9377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0.9473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0.9876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10, min_samples_split = 5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8 of 10 on accuracy.</a:t>
            </a:r>
            <a:endParaRPr lang="en-US" sz="1100" dirty="0"/>
          </a:p>
        </p:txBody>
      </p:sp>
      <p:pic>
        <p:nvPicPr>
          <p:cNvPr id="10" name="anim figure" descr="Decision Tre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676400"/>
            <a:ext cx="5486400" cy="30480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4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(Gaussian)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Bayes' theorem and treats every feature as independent given the variety, with a Gaussian curve for each.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0.7757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0.7746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0.7779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0.9711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(var_smoothing=1e-9)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10 of 10 on accuracy.</a:t>
            </a:r>
            <a:endParaRPr lang="en-US" sz="1100" dirty="0"/>
          </a:p>
        </p:txBody>
      </p:sp>
      <p:pic>
        <p:nvPicPr>
          <p:cNvPr id="10" name="anim figure" descr="Naive Bayes (Gaussian)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5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boundary with the widest margin between varieties; the RBF kernel lets that boundary curve.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0.9533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0.9533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0.9626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0.9977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10, kernel = rbf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2 of 10 on accuracy.</a:t>
            </a:r>
            <a:endParaRPr lang="en-US" sz="1100" dirty="0"/>
          </a:p>
        </p:txBody>
      </p:sp>
      <p:pic>
        <p:nvPicPr>
          <p:cNvPr id="10" name="anim figure" descr="Support Vector Machin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6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many decision trees, each grown on a bootstrap sample with random feature subsets, to cut variance.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0.9520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0.9519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0.9605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0.9975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12, min_samples_split = 5, n_estimators = 200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4 of 10 on accuracy.</a:t>
            </a:r>
            <a:endParaRPr lang="en-US" sz="1100" dirty="0"/>
          </a:p>
        </p:txBody>
      </p:sp>
      <p:pic>
        <p:nvPicPr>
          <p:cNvPr id="10" name="anim figure" descr="Random Fores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7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weak learners in turn, giving more weight to the beans the previous learners got wrong.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0.7866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0.7578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0.7710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0.9753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0.5, n_estimators = 150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9 of 10 on accuracy.</a:t>
            </a:r>
            <a:endParaRPr lang="en-US" sz="1100" dirty="0"/>
          </a:p>
        </p:txBody>
      </p:sp>
      <p:pic>
        <p:nvPicPr>
          <p:cNvPr id="10" name="anim figure" descr="AdaBoos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8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small trees one by one, each fitted to the errors of the ensemble so far.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0.9508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0.9507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0.9589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0.9976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0.1, max_depth = 3, n_estimators = 100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6 of 10 on accuracy.</a:t>
            </a:r>
            <a:endParaRPr lang="en-US" sz="1100" dirty="0"/>
          </a:p>
        </p:txBody>
      </p:sp>
      <p:pic>
        <p:nvPicPr>
          <p:cNvPr id="10" name="anim figure" descr="Gradient Boosting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9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Classifier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many decision trees on bootstrap samples of the data and takes a majority vote.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0.9520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0.9520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0.9612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0.9970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5 of 10 on accuracy.</a:t>
            </a:r>
            <a:endParaRPr lang="en-US" sz="1100" dirty="0"/>
          </a:p>
        </p:txBody>
      </p:sp>
      <p:pic>
        <p:nvPicPr>
          <p:cNvPr id="10" name="anim figure" descr="Bagging Classifie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MODEL 10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Neural Network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scaled features through layers of weighted units with non-linear activations, trained by gradient descent.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0.9541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600" dirty="0"/>
          </a:p>
        </p:txBody>
      </p:sp>
      <p:sp>
        <p:nvSpPr>
          <p:cNvPr id="6" name="anim card1"/>
          <p:cNvSpPr txBox="1"/>
          <p:nvPr/>
        </p:nvSpPr>
        <p:spPr>
          <a:xfrm>
            <a:off x="2148840" y="16916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0.9542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26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0.9624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2600" dirty="0"/>
          </a:p>
        </p:txBody>
      </p:sp>
      <p:sp>
        <p:nvSpPr>
          <p:cNvPr id="8" name="anim card3"/>
          <p:cNvSpPr txBox="1"/>
          <p:nvPr/>
        </p:nvSpPr>
        <p:spPr>
          <a:xfrm>
            <a:off x="2148840" y="26974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BEFEA"/>
          </a:solidFill>
          <a:ln w="6350">
            <a:solidFill>
              <a:srgbClr val="FBEFEA"/>
            </a:solidFill>
          </a:ln>
        </p:spPr>
        <p:txBody>
          <a:bodyPr wrap="square" lIns="38100" tIns="152400" rIns="152400" bIns="381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0.9978</a:t>
            </a:r>
            <a:endParaRPr lang="en-US" sz="2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(OvR)</a:t>
            </a:r>
            <a:endParaRPr lang="en-US" sz="26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= relu, hidden_layer_sizes = (50,)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1 of 10 on accuracy.</a:t>
            </a:r>
            <a:endParaRPr lang="en-US" sz="1100" dirty="0"/>
          </a:p>
        </p:txBody>
      </p:sp>
      <p:pic>
        <p:nvPicPr>
          <p:cNvPr id="10" name="anim figure" descr="MLP Neural Network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41938"/>
            <a:ext cx="4572000" cy="3516923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 |   EVALUATION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10 classifiers compared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scored on the same held-out test beans, so the numbers are directly comparable.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ani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600200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94360"/>
                <a:gridCol w="594360"/>
                <a:gridCol w="594360"/>
                <a:gridCol w="59436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7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Bean dataset  |  11,878 beans after cleaning  |  9,502 train, 2,376 test, stratified 80/20, seed 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1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one straight-line weight per feature by minimising squared error, the plainest baseline.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-4.436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136.8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squares, scaled inputs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R2: worse than predicting the mean. (rank 7 of 10)</a:t>
            </a:r>
            <a:endParaRPr lang="en-US" sz="1100" dirty="0"/>
          </a:p>
        </p:txBody>
      </p:sp>
      <p:pic>
        <p:nvPicPr>
          <p:cNvPr id="10" name="anim figure" descr="Linear Regression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2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an L2 penalty that shrinks coefficients, which steadies the fit when features overlap.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-4.338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135.6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0.1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 CV preferred the smallest alpha. (rank 6 of 10)</a:t>
            </a:r>
            <a:endParaRPr lang="en-US" sz="1100" dirty="0"/>
          </a:p>
        </p:txBody>
      </p:sp>
      <p:pic>
        <p:nvPicPr>
          <p:cNvPr id="10" name="anim figure" descr="Ridge Regression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3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Regression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an L1 penalty that pushes weak coefficients exactly to zero.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-63.845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472.4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7.04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1.0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alpha 1.0, 46 of 64 features are zeroed. (rank 9 of 10)</a:t>
            </a:r>
            <a:endParaRPr lang="en-US" sz="1100" dirty="0"/>
          </a:p>
        </p:txBody>
      </p:sp>
      <p:pic>
        <p:nvPicPr>
          <p:cNvPr id="10" name="anim figure" descr="Lasso Regression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4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ElasticNet Regression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the L1 and L2 penalties, so it drops features and also shrinks the ones it keeps.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-2.080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103.0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3.25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1.0, l1_ratio = 0.5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penalised linear model on the test set. (rank 5 of 10)</a:t>
            </a:r>
            <a:endParaRPr lang="en-US" sz="1100" dirty="0"/>
          </a:p>
        </p:txBody>
      </p:sp>
      <p:pic>
        <p:nvPicPr>
          <p:cNvPr id="10" name="anim figure" descr="ElasticNet Regression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5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Regression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four packet and header features into squares and interactions, then fits a linear model.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-3,020.9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3225.2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23.54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2 on 4 packet and header features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R2 0.962, but test R2 collapses. (rank 10 of 10)</a:t>
            </a:r>
            <a:endParaRPr lang="en-US" sz="1100" dirty="0"/>
          </a:p>
        </p:txBody>
      </p:sp>
      <p:pic>
        <p:nvPicPr>
          <p:cNvPr id="10" name="anim figure" descr="Polynomial Regression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6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Regressor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flows by packet-count thresholds and predicts the mean duration in each leaf.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0.621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36.1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depth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R2 and best CV R2. (rank 1 of 10)</a:t>
            </a:r>
            <a:endParaRPr lang="en-US" sz="1100" dirty="0"/>
          </a:p>
        </p:txBody>
      </p:sp>
      <p:pic>
        <p:nvPicPr>
          <p:cNvPr id="10" name="anim figure" descr="Decision Tree Regresso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7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100 deep trees grown on bootstrap samples, which smooths each tree's noise.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0.374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46.4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max_depth = 25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by 5-fold grid search. (rank 2 of 10)</a:t>
            </a:r>
            <a:endParaRPr lang="en-US" sz="1100" dirty="0"/>
          </a:p>
        </p:txBody>
      </p:sp>
      <p:pic>
        <p:nvPicPr>
          <p:cNvPr id="10" name="anim figure" descr="Random Forest Regresso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8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Regressor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shallow trees one by one, each fitted to the remaining errors of the ensemble.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-0.147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62.8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1.98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39.5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rounds, learning rate 0.1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left the test score unchanged. (rank 4 of 10)</a:t>
            </a:r>
            <a:endParaRPr lang="en-US" sz="1100" dirty="0"/>
          </a:p>
        </p:txBody>
      </p:sp>
      <p:pic>
        <p:nvPicPr>
          <p:cNvPr id="10" name="anim figure" descr="Gradient Boosting Regresso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9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Regression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linear function inside an epsilon tube, ignoring errors smaller than the tube.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-6.590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161.6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64.72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kernel, C = 1.0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all 94,337 rows, capped iterations. (rank 8 of 10)</a:t>
            </a:r>
            <a:endParaRPr lang="en-US" sz="1100" dirty="0"/>
          </a:p>
        </p:txBody>
      </p:sp>
      <p:pic>
        <p:nvPicPr>
          <p:cNvPr id="10" name="anim figure" descr="Support Vector Regression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MODEL 10 OF 10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Regressor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average duration of the five most similar training flows on scaled features.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-0.018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R2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59.2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8F3F5"/>
          </a:solidFill>
          <a:ln w="6350">
            <a:solidFill>
              <a:srgbClr val="E8F3F5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s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5, scaled inputs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helps at k = 10 and 20 only. (rank 3 of 10)</a:t>
            </a:r>
            <a:endParaRPr lang="en-US" sz="1100" dirty="0"/>
          </a:p>
        </p:txBody>
      </p:sp>
      <p:pic>
        <p:nvPicPr>
          <p:cNvPr id="10" name="anim figure" descr="K-Nearest Neighbors Regresso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|   EVALUATION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10 regressors compared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one test split. Only the tree models and KNN come close to a positive R2.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54480"/>
          <a:ext cx="4480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ani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554480"/>
          <a:ext cx="3703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31520"/>
                <a:gridCol w="777240"/>
                <a:gridCol w="7772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-4.436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 (linear)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-63.845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 (deg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-3,020.9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7" name="cvlabel"/>
          <p:cNvSpPr txBox="1"/>
          <p:nvPr/>
        </p:nvSpPr>
        <p:spPr>
          <a:xfrm>
            <a:off x="45720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CV, top two models</a:t>
            </a:r>
            <a:endParaRPr lang="en-US" sz="1100" dirty="0"/>
          </a:p>
        </p:txBody>
      </p:sp>
      <p:sp>
        <p:nvSpPr>
          <p:cNvPr id="8" name="anim cv1"/>
          <p:cNvSpPr txBox="1"/>
          <p:nvPr/>
        </p:nvSpPr>
        <p:spPr>
          <a:xfrm>
            <a:off x="457200" y="4407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</a:t>
            </a:r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0.6821 ± 0.1795</a:t>
            </a:r>
            <a:endParaRPr lang="en-US" sz="1200" dirty="0"/>
          </a:p>
        </p:txBody>
      </p:sp>
      <p:sp>
        <p:nvSpPr>
          <p:cNvPr id="9" name="anim cv2"/>
          <p:cNvSpPr txBox="1"/>
          <p:nvPr/>
        </p:nvSpPr>
        <p:spPr>
          <a:xfrm>
            <a:off x="4572000" y="4407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  </a:t>
            </a:r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0.6506 ± 0.2206</a:t>
            </a:r>
            <a:endParaRPr lang="en-US" sz="1200" dirty="0"/>
          </a:p>
        </p:txBody>
      </p:sp>
      <p:sp>
        <p:nvSpPr>
          <p:cNvPr id="10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RT-IoT2022 network flows  |  predicting flow_duration  |  94,337 train, 23,585 test rows, 53 leakage-free features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 |   MODEL 1 OF 2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booking to the nearest of k centres and moves the centres until the groups stop changing, minimising inertia.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 w="6350">
            <a:solidFill>
              <a:srgbClr val="FAF3E3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clusters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 w="6350">
            <a:solidFill>
              <a:srgbClr val="FAF3E3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0.2087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 w="6350">
            <a:solidFill>
              <a:srgbClr val="FAF3E3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1.4673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 w="6350">
            <a:solidFill>
              <a:srgbClr val="FAF3E3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1,469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tried from 2 to 10, 10 starts. Sizes 1,398, 12,807, 624, 171.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is gentle, so k = 4 came from silhouette and Davies-Bouldin.</a:t>
            </a:r>
            <a:endParaRPr lang="en-US" sz="1100" dirty="0"/>
          </a:p>
        </p:txBody>
      </p:sp>
      <p:pic>
        <p:nvPicPr>
          <p:cNvPr id="10" name="anim figure" descr="K-Means Clustering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Demand  |  15,000 sampled bookings, 48 features  |  dendrogram on 1,000, t-SNE on 5,000 of those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 |   MODEL 2 OF 2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Agglomerative Clustering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every booking alone and keeps merging the closest pair of clusters; Ward linkage merges whichever pair adds the least variance.</a:t>
            </a:r>
            <a:endParaRPr lang="en-US" sz="1400" dirty="0"/>
          </a:p>
        </p:txBody>
      </p:sp>
      <p:sp>
        <p:nvSpPr>
          <p:cNvPr id="5" name="anim card0"/>
          <p:cNvSpPr txBox="1"/>
          <p:nvPr/>
        </p:nvSpPr>
        <p:spPr>
          <a:xfrm>
            <a:off x="4572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 w="6350">
            <a:solidFill>
              <a:srgbClr val="FAF3E3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(Ward)</a:t>
            </a:r>
            <a:endParaRPr lang="en-US" sz="2000" dirty="0"/>
          </a:p>
        </p:txBody>
      </p:sp>
      <p:sp>
        <p:nvSpPr>
          <p:cNvPr id="6" name="anim card1"/>
          <p:cNvSpPr txBox="1"/>
          <p:nvPr/>
        </p:nvSpPr>
        <p:spPr>
          <a:xfrm>
            <a:off x="1828800" y="16916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 w="6350">
            <a:solidFill>
              <a:srgbClr val="FAF3E3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0.4529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2000" dirty="0"/>
          </a:p>
        </p:txBody>
      </p:sp>
      <p:sp>
        <p:nvSpPr>
          <p:cNvPr id="7" name="anim card2"/>
          <p:cNvSpPr txBox="1"/>
          <p:nvPr/>
        </p:nvSpPr>
        <p:spPr>
          <a:xfrm>
            <a:off x="4572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 w="6350">
            <a:solidFill>
              <a:srgbClr val="FAF3E3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1.3782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2000" dirty="0"/>
          </a:p>
        </p:txBody>
      </p:sp>
      <p:sp>
        <p:nvSpPr>
          <p:cNvPr id="8" name="anim card3"/>
          <p:cNvSpPr txBox="1"/>
          <p:nvPr/>
        </p:nvSpPr>
        <p:spPr>
          <a:xfrm>
            <a:off x="1828800" y="26974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 w="6350">
            <a:solidFill>
              <a:srgbClr val="FAF3E3"/>
            </a:solidFill>
          </a:ln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1,345.4</a:t>
            </a:r>
            <a:endParaRPr lang="en-US" sz="2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2000" dirty="0"/>
          </a:p>
        </p:txBody>
      </p:sp>
      <p:sp>
        <p:nvSpPr>
          <p:cNvPr id="9" name="anim settings"/>
          <p:cNvSpPr txBox="1"/>
          <p:nvPr/>
        </p:nvSpPr>
        <p:spPr>
          <a:xfrm>
            <a:off x="457200" y="3703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Ward, Euclidean. Sizes 13,707, 980, 171, 142.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average linkage were rejected: they isolate single bookings.</a:t>
            </a:r>
            <a:endParaRPr lang="en-US" sz="1100" dirty="0"/>
          </a:p>
        </p:txBody>
      </p:sp>
      <p:pic>
        <p:nvPicPr>
          <p:cNvPr id="10" name="anim figure" descr="Agglomerative Clustering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5486400" cy="274320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Demand  |  15,000 sampled bookings, 48 features  |  dendrogram on 1,000, t-SNE on 5,000 of those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 kicker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 |   EVALUATION</a:t>
            </a:r>
            <a:endParaRPr lang="en-US" sz="1100" dirty="0"/>
          </a:p>
        </p:txBody>
      </p:sp>
      <p:sp>
        <p:nvSpPr>
          <p:cNvPr id="3" name="anim title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against Agglomerative</a:t>
            </a:r>
            <a:endParaRPr lang="en-US" sz="3000" dirty="0"/>
          </a:p>
        </p:txBody>
      </p:sp>
      <p:sp>
        <p:nvSpPr>
          <p:cNvPr id="4" name="anim blurb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fitted and scored on the same 15,000 bookings. The three metrics do not agree on one winner.</a:t>
            </a:r>
            <a:endParaRPr lang="en-US" sz="1400" dirty="0"/>
          </a:p>
        </p:txBody>
      </p:sp>
      <p:graphicFrame>
        <p:nvGraphicFramePr>
          <p:cNvPr id="26" name="ani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206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(higher)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Agglomerative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 (lower)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Agglomerative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 (higher)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365760" y="3108960"/>
          <a:ext cx="43891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anim figure" descr="t-SNE of both cluster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91640"/>
            <a:ext cx="3840480" cy="1920240"/>
          </a:xfrm>
          <a:prstGeom prst="rect">
            <a:avLst/>
          </a:prstGeom>
        </p:spPr>
      </p:pic>
      <p:sp>
        <p:nvSpPr>
          <p:cNvPr id="8" name="anim settings"/>
          <p:cNvSpPr txBox="1"/>
          <p:nvPr/>
        </p:nvSpPr>
        <p:spPr>
          <a:xfrm>
            <a:off x="4892040" y="3703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1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return one dominant cluster (85% and 91% of bookings) plus a few small ones, so the higher Agglomerative silhouette should not be read as clearly better groups.</a:t>
            </a:r>
            <a:endParaRPr lang="en-US" sz="1100" dirty="0"/>
          </a:p>
        </p:txBody>
      </p:sp>
      <p:sp>
        <p:nvSpPr>
          <p:cNvPr id="9" name="footer"/>
          <p:cNvSpPr txBox="1"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Demand  |  15,000 sampled bookings, 48 features  |  dendrogram on 1,000, t-SNE on 5,000 of those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43B"/>
      </a:dk2>
      <a:lt2>
        <a:srgbClr val="F2F5F6"/>
      </a:lt2>
      <a:accent1>
        <a:srgbClr val="C8553D"/>
      </a:accent1>
      <a:accent2>
        <a:srgbClr val="1F7A8C"/>
      </a:accent2>
      <a:accent3>
        <a:srgbClr val="B8821F"/>
      </a:accent3>
      <a:accent4>
        <a:srgbClr val="6B7F4F"/>
      </a:accent4>
      <a:accent5>
        <a:srgbClr val="7A4E63"/>
      </a:accent5>
      <a:accent6>
        <a:srgbClr val="3F6C9A"/>
      </a:accent6>
      <a:hlink>
        <a:srgbClr val="1F7A8C"/>
      </a:hlink>
      <a:folHlink>
        <a:srgbClr val="7A4E63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Capstone: Classification, Regression and Clustering</dc:title>
  <dc:subject>PptxGenJS Presentation</dc:subject>
  <dc:creator>Likhith Ponnada</dc:creator>
  <cp:lastModifiedBy>Likhith Ponnada</cp:lastModifiedBy>
  <cp:revision>1</cp:revision>
  <dcterms:created xsi:type="dcterms:W3CDTF">2026-10-16T05:32:46Z</dcterms:created>
  <dcterms:modified xsi:type="dcterms:W3CDTF">2026-10-16T05:32:46Z</dcterms:modified>
</cp:coreProperties>
</file>
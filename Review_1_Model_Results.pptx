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263640"/>
            <a:ext cx="12191695" cy="38100"/>
          </a:xfrm>
          <a:prstGeom prst="rect">
            <a:avLst/>
          </a:prstGeom>
          <a:solidFill>
            <a:srgbClr val="9E1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png"/>
          <p:cNvPicPr>
            <a:picLocks noChangeAspect="1"/>
          </p:cNvPicPr>
          <p:nvPr/>
        </p:nvPicPr>
        <p:blipFill>
          <a:blip r:embed="rId2"/>
          <a:stretch>
            <a:fillRect/>
          </a:stretch>
        </p:blipFill>
        <p:spPr>
          <a:xfrm>
            <a:off x="5570067" y="685800"/>
            <a:ext cx="1051560" cy="1051560"/>
          </a:xfrm>
          <a:prstGeom prst="rect">
            <a:avLst/>
          </a:prstGeom>
        </p:spPr>
      </p:pic>
      <p:sp>
        <p:nvSpPr>
          <p:cNvPr id="4" name="TextBox 3"/>
          <p:cNvSpPr txBox="1"/>
          <p:nvPr/>
        </p:nvSpPr>
        <p:spPr>
          <a:xfrm>
            <a:off x="914400" y="2148840"/>
            <a:ext cx="10360152" cy="822960"/>
          </a:xfrm>
          <a:prstGeom prst="rect">
            <a:avLst/>
          </a:prstGeom>
          <a:noFill/>
        </p:spPr>
        <p:txBody>
          <a:bodyPr wrap="square" anchor="t" lIns="0" rIns="0" tIns="0" bIns="0">
            <a:spAutoFit/>
          </a:bodyPr>
          <a:lstStyle/>
          <a:p>
            <a:pPr algn="ctr"/>
            <a:r>
              <a:rPr sz="3800" b="1" i="0">
                <a:solidFill>
                  <a:srgbClr val="1B2636"/>
                </a:solidFill>
                <a:latin typeface="Calibri"/>
              </a:rPr>
              <a:t>Machine Learning Capstone — Review 1</a:t>
            </a:r>
          </a:p>
        </p:txBody>
      </p:sp>
      <p:sp>
        <p:nvSpPr>
          <p:cNvPr id="5" name="TextBox 4"/>
          <p:cNvSpPr txBox="1"/>
          <p:nvPr/>
        </p:nvSpPr>
        <p:spPr>
          <a:xfrm>
            <a:off x="1371600" y="2926080"/>
            <a:ext cx="9445752" cy="502920"/>
          </a:xfrm>
          <a:prstGeom prst="rect">
            <a:avLst/>
          </a:prstGeom>
          <a:noFill/>
        </p:spPr>
        <p:txBody>
          <a:bodyPr wrap="square" anchor="t" lIns="0" rIns="0" tIns="0" bIns="0">
            <a:spAutoFit/>
          </a:bodyPr>
          <a:lstStyle/>
          <a:p>
            <a:pPr algn="ctr"/>
            <a:r>
              <a:rPr sz="1700" b="0" i="0">
                <a:solidFill>
                  <a:srgbClr val="454F5B"/>
                </a:solidFill>
                <a:latin typeface="Calibri"/>
              </a:rPr>
              <a:t>Model Development &amp; Evaluation Across Regression and Classification Tracks</a:t>
            </a:r>
          </a:p>
        </p:txBody>
      </p:sp>
      <p:sp>
        <p:nvSpPr>
          <p:cNvPr id="6" name="Rectangle 5"/>
          <p:cNvSpPr/>
          <p:nvPr/>
        </p:nvSpPr>
        <p:spPr>
          <a:xfrm>
            <a:off x="5367528" y="3703320"/>
            <a:ext cx="1463040" cy="27940"/>
          </a:xfrm>
          <a:prstGeom prst="rect">
            <a:avLst/>
          </a:prstGeom>
          <a:solidFill>
            <a:srgbClr val="9E1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13048" y="4069080"/>
            <a:ext cx="4572000" cy="16916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3048" y="4215384"/>
            <a:ext cx="4572000" cy="274320"/>
          </a:xfrm>
          <a:prstGeom prst="rect">
            <a:avLst/>
          </a:prstGeom>
          <a:noFill/>
        </p:spPr>
        <p:txBody>
          <a:bodyPr wrap="square" anchor="t" lIns="0" rIns="0" tIns="0" bIns="0">
            <a:spAutoFit/>
          </a:bodyPr>
          <a:lstStyle/>
          <a:p>
            <a:pPr algn="ctr"/>
            <a:r>
              <a:rPr sz="1250" b="1" i="0">
                <a:solidFill>
                  <a:srgbClr val="9E1B40"/>
                </a:solidFill>
                <a:latin typeface="Calibri"/>
              </a:rPr>
              <a:t>PROJECT TEAM</a:t>
            </a:r>
          </a:p>
        </p:txBody>
      </p:sp>
      <p:sp>
        <p:nvSpPr>
          <p:cNvPr id="9" name="TextBox 8"/>
          <p:cNvSpPr txBox="1"/>
          <p:nvPr/>
        </p:nvSpPr>
        <p:spPr>
          <a:xfrm>
            <a:off x="4270248" y="4617720"/>
            <a:ext cx="1737360" cy="292608"/>
          </a:xfrm>
          <a:prstGeom prst="rect">
            <a:avLst/>
          </a:prstGeom>
          <a:noFill/>
        </p:spPr>
        <p:txBody>
          <a:bodyPr wrap="square" anchor="t" lIns="0" rIns="0" tIns="0" bIns="0">
            <a:spAutoFit/>
          </a:bodyPr>
          <a:lstStyle/>
          <a:p>
            <a:pPr algn="l"/>
            <a:r>
              <a:rPr sz="1350" b="1" i="0">
                <a:solidFill>
                  <a:srgbClr val="1B2636"/>
                </a:solidFill>
                <a:latin typeface="Calibri"/>
              </a:rPr>
              <a:t>Likhith</a:t>
            </a:r>
          </a:p>
        </p:txBody>
      </p:sp>
      <p:sp>
        <p:nvSpPr>
          <p:cNvPr id="10" name="TextBox 9"/>
          <p:cNvSpPr txBox="1"/>
          <p:nvPr/>
        </p:nvSpPr>
        <p:spPr>
          <a:xfrm>
            <a:off x="6007608" y="4617720"/>
            <a:ext cx="1920240" cy="292608"/>
          </a:xfrm>
          <a:prstGeom prst="rect">
            <a:avLst/>
          </a:prstGeom>
          <a:noFill/>
        </p:spPr>
        <p:txBody>
          <a:bodyPr wrap="square" anchor="t" lIns="0" rIns="0" tIns="0" bIns="0">
            <a:spAutoFit/>
          </a:bodyPr>
          <a:lstStyle/>
          <a:p>
            <a:pPr algn="l"/>
            <a:r>
              <a:rPr sz="1250" b="0" i="0">
                <a:solidFill>
                  <a:srgbClr val="454F5B"/>
                </a:solidFill>
                <a:latin typeface="Calibri"/>
              </a:rPr>
              <a:t>CB.SC.U4CSE24135</a:t>
            </a:r>
          </a:p>
        </p:txBody>
      </p:sp>
      <p:sp>
        <p:nvSpPr>
          <p:cNvPr id="11" name="TextBox 10"/>
          <p:cNvSpPr txBox="1"/>
          <p:nvPr/>
        </p:nvSpPr>
        <p:spPr>
          <a:xfrm>
            <a:off x="4270248" y="4965192"/>
            <a:ext cx="1737360" cy="292608"/>
          </a:xfrm>
          <a:prstGeom prst="rect">
            <a:avLst/>
          </a:prstGeom>
          <a:noFill/>
        </p:spPr>
        <p:txBody>
          <a:bodyPr wrap="square" anchor="t" lIns="0" rIns="0" tIns="0" bIns="0">
            <a:spAutoFit/>
          </a:bodyPr>
          <a:lstStyle/>
          <a:p>
            <a:pPr algn="l"/>
            <a:r>
              <a:rPr sz="1350" b="1" i="0">
                <a:solidFill>
                  <a:srgbClr val="1B2636"/>
                </a:solidFill>
                <a:latin typeface="Calibri"/>
              </a:rPr>
              <a:t>Prudhvi</a:t>
            </a:r>
          </a:p>
        </p:txBody>
      </p:sp>
      <p:sp>
        <p:nvSpPr>
          <p:cNvPr id="12" name="TextBox 11"/>
          <p:cNvSpPr txBox="1"/>
          <p:nvPr/>
        </p:nvSpPr>
        <p:spPr>
          <a:xfrm>
            <a:off x="6007608" y="4965192"/>
            <a:ext cx="1920240" cy="292608"/>
          </a:xfrm>
          <a:prstGeom prst="rect">
            <a:avLst/>
          </a:prstGeom>
          <a:noFill/>
        </p:spPr>
        <p:txBody>
          <a:bodyPr wrap="square" anchor="t" lIns="0" rIns="0" tIns="0" bIns="0">
            <a:spAutoFit/>
          </a:bodyPr>
          <a:lstStyle/>
          <a:p>
            <a:pPr algn="l"/>
            <a:r>
              <a:rPr sz="1250" b="0" i="0">
                <a:solidFill>
                  <a:srgbClr val="454F5B"/>
                </a:solidFill>
                <a:latin typeface="Calibri"/>
              </a:rPr>
              <a:t>CB.SC.U4CSE24114</a:t>
            </a:r>
          </a:p>
        </p:txBody>
      </p:sp>
      <p:sp>
        <p:nvSpPr>
          <p:cNvPr id="13" name="TextBox 12"/>
          <p:cNvSpPr txBox="1"/>
          <p:nvPr/>
        </p:nvSpPr>
        <p:spPr>
          <a:xfrm>
            <a:off x="4270248" y="5312664"/>
            <a:ext cx="1737360" cy="292608"/>
          </a:xfrm>
          <a:prstGeom prst="rect">
            <a:avLst/>
          </a:prstGeom>
          <a:noFill/>
        </p:spPr>
        <p:txBody>
          <a:bodyPr wrap="square" anchor="t" lIns="0" rIns="0" tIns="0" bIns="0">
            <a:spAutoFit/>
          </a:bodyPr>
          <a:lstStyle/>
          <a:p>
            <a:pPr algn="l"/>
            <a:r>
              <a:rPr sz="1350" b="1" i="0">
                <a:solidFill>
                  <a:srgbClr val="1B2636"/>
                </a:solidFill>
                <a:latin typeface="Calibri"/>
              </a:rPr>
              <a:t>Semanth</a:t>
            </a:r>
          </a:p>
        </p:txBody>
      </p:sp>
      <p:sp>
        <p:nvSpPr>
          <p:cNvPr id="14" name="TextBox 13"/>
          <p:cNvSpPr txBox="1"/>
          <p:nvPr/>
        </p:nvSpPr>
        <p:spPr>
          <a:xfrm>
            <a:off x="6007608" y="5312664"/>
            <a:ext cx="1920240" cy="292608"/>
          </a:xfrm>
          <a:prstGeom prst="rect">
            <a:avLst/>
          </a:prstGeom>
          <a:noFill/>
        </p:spPr>
        <p:txBody>
          <a:bodyPr wrap="square" anchor="t" lIns="0" rIns="0" tIns="0" bIns="0">
            <a:spAutoFit/>
          </a:bodyPr>
          <a:lstStyle/>
          <a:p>
            <a:pPr algn="l"/>
            <a:r>
              <a:rPr sz="1250" b="0" i="0">
                <a:solidFill>
                  <a:srgbClr val="454F5B"/>
                </a:solidFill>
                <a:latin typeface="Calibri"/>
              </a:rPr>
              <a:t>CB.SC.U4CSE24134</a:t>
            </a:r>
          </a:p>
        </p:txBody>
      </p:sp>
      <p:sp>
        <p:nvSpPr>
          <p:cNvPr id="15" name="TextBox 14"/>
          <p:cNvSpPr txBox="1"/>
          <p:nvPr/>
        </p:nvSpPr>
        <p:spPr>
          <a:xfrm>
            <a:off x="914400" y="6355080"/>
            <a:ext cx="10360152" cy="320040"/>
          </a:xfrm>
          <a:prstGeom prst="rect">
            <a:avLst/>
          </a:prstGeom>
          <a:noFill/>
        </p:spPr>
        <p:txBody>
          <a:bodyPr wrap="square" anchor="t" lIns="0" rIns="0" tIns="0" bIns="0">
            <a:spAutoFit/>
          </a:bodyPr>
          <a:lstStyle/>
          <a:p>
            <a:pPr algn="ctr"/>
            <a:r>
              <a:rPr sz="1200" b="1" i="0">
                <a:solidFill>
                  <a:srgbClr val="454F5B"/>
                </a:solidFill>
                <a:latin typeface="Calibri"/>
              </a:rPr>
              <a:t>Amrita Vishwa Vidyapeetham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9E1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PROJECT OVERVIEW</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Objectives &amp; Track Summary</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Overview</a:t>
            </a:r>
          </a:p>
        </p:txBody>
      </p:sp>
      <p:sp>
        <p:nvSpPr>
          <p:cNvPr id="7" name="Rectangle 6"/>
          <p:cNvSpPr/>
          <p:nvPr/>
        </p:nvSpPr>
        <p:spPr>
          <a:xfrm>
            <a:off x="411480" y="1234440"/>
            <a:ext cx="5394960" cy="38404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7592"/>
            <a:ext cx="5029200" cy="256032"/>
          </a:xfrm>
          <a:prstGeom prst="rect">
            <a:avLst/>
          </a:prstGeom>
          <a:noFill/>
        </p:spPr>
        <p:txBody>
          <a:bodyPr wrap="square" anchor="t" lIns="0" rIns="0" tIns="0" bIns="0">
            <a:spAutoFit/>
          </a:bodyPr>
          <a:lstStyle/>
          <a:p>
            <a:pPr algn="l"/>
            <a:r>
              <a:rPr sz="1400" b="1" i="0">
                <a:solidFill>
                  <a:srgbClr val="FFFFFF"/>
                </a:solidFill>
                <a:latin typeface="Calibri"/>
              </a:rPr>
              <a:t>REGRESSION TRACK</a:t>
            </a:r>
          </a:p>
        </p:txBody>
      </p:sp>
      <p:sp>
        <p:nvSpPr>
          <p:cNvPr id="9" name="TextBox 8"/>
          <p:cNvSpPr txBox="1"/>
          <p:nvPr/>
        </p:nvSpPr>
        <p:spPr>
          <a:xfrm>
            <a:off x="411480" y="1801368"/>
            <a:ext cx="5394960" cy="219456"/>
          </a:xfrm>
          <a:prstGeom prst="rect">
            <a:avLst/>
          </a:prstGeom>
          <a:noFill/>
        </p:spPr>
        <p:txBody>
          <a:bodyPr wrap="square" anchor="t" lIns="0" rIns="0" tIns="0" bIns="0">
            <a:spAutoFit/>
          </a:bodyPr>
          <a:lstStyle/>
          <a:p>
            <a:pPr algn="l"/>
            <a:r>
              <a:rPr sz="1000" b="1" i="0">
                <a:solidFill>
                  <a:srgbClr val="1D4E89"/>
                </a:solidFill>
                <a:latin typeface="Calibri"/>
              </a:rPr>
              <a:t>DATASET</a:t>
            </a:r>
          </a:p>
        </p:txBody>
      </p:sp>
      <p:sp>
        <p:nvSpPr>
          <p:cNvPr id="10" name="TextBox 9"/>
          <p:cNvSpPr txBox="1"/>
          <p:nvPr/>
        </p:nvSpPr>
        <p:spPr>
          <a:xfrm>
            <a:off x="411480" y="2039112"/>
            <a:ext cx="5394960" cy="265176"/>
          </a:xfrm>
          <a:prstGeom prst="rect">
            <a:avLst/>
          </a:prstGeom>
          <a:noFill/>
        </p:spPr>
        <p:txBody>
          <a:bodyPr wrap="square" anchor="t" lIns="0" rIns="0" tIns="0" bIns="0">
            <a:spAutoFit/>
          </a:bodyPr>
          <a:lstStyle/>
          <a:p>
            <a:pPr algn="l"/>
            <a:r>
              <a:rPr sz="1150" b="0" i="0">
                <a:solidFill>
                  <a:srgbClr val="22272E"/>
                </a:solidFill>
                <a:latin typeface="Calibri"/>
              </a:rPr>
              <a:t>RT_IoT2022 (IoT network traffic)</a:t>
            </a:r>
          </a:p>
        </p:txBody>
      </p:sp>
      <p:sp>
        <p:nvSpPr>
          <p:cNvPr id="11" name="TextBox 10"/>
          <p:cNvSpPr txBox="1"/>
          <p:nvPr/>
        </p:nvSpPr>
        <p:spPr>
          <a:xfrm>
            <a:off x="411480" y="2404872"/>
            <a:ext cx="5394960" cy="219456"/>
          </a:xfrm>
          <a:prstGeom prst="rect">
            <a:avLst/>
          </a:prstGeom>
          <a:noFill/>
        </p:spPr>
        <p:txBody>
          <a:bodyPr wrap="square" anchor="t" lIns="0" rIns="0" tIns="0" bIns="0">
            <a:spAutoFit/>
          </a:bodyPr>
          <a:lstStyle/>
          <a:p>
            <a:pPr algn="l"/>
            <a:r>
              <a:rPr sz="1000" b="1" i="0">
                <a:solidFill>
                  <a:srgbClr val="1D4E89"/>
                </a:solidFill>
                <a:latin typeface="Calibri"/>
              </a:rPr>
              <a:t>TASK</a:t>
            </a:r>
          </a:p>
        </p:txBody>
      </p:sp>
      <p:sp>
        <p:nvSpPr>
          <p:cNvPr id="12" name="TextBox 11"/>
          <p:cNvSpPr txBox="1"/>
          <p:nvPr/>
        </p:nvSpPr>
        <p:spPr>
          <a:xfrm>
            <a:off x="411480" y="2642616"/>
            <a:ext cx="5394960" cy="265176"/>
          </a:xfrm>
          <a:prstGeom prst="rect">
            <a:avLst/>
          </a:prstGeom>
          <a:noFill/>
        </p:spPr>
        <p:txBody>
          <a:bodyPr wrap="square" anchor="t" lIns="0" rIns="0" tIns="0" bIns="0">
            <a:spAutoFit/>
          </a:bodyPr>
          <a:lstStyle/>
          <a:p>
            <a:pPr algn="l"/>
            <a:r>
              <a:rPr sz="1150" b="0" i="0">
                <a:solidFill>
                  <a:srgbClr val="22272E"/>
                </a:solidFill>
                <a:latin typeface="Calibri"/>
              </a:rPr>
              <a:t>Predict flow_duration (seconds), a continuous target</a:t>
            </a:r>
          </a:p>
        </p:txBody>
      </p:sp>
      <p:sp>
        <p:nvSpPr>
          <p:cNvPr id="13" name="TextBox 12"/>
          <p:cNvSpPr txBox="1"/>
          <p:nvPr/>
        </p:nvSpPr>
        <p:spPr>
          <a:xfrm>
            <a:off x="411480" y="3008376"/>
            <a:ext cx="5394960" cy="219456"/>
          </a:xfrm>
          <a:prstGeom prst="rect">
            <a:avLst/>
          </a:prstGeom>
          <a:noFill/>
        </p:spPr>
        <p:txBody>
          <a:bodyPr wrap="square" anchor="t" lIns="0" rIns="0" tIns="0" bIns="0">
            <a:spAutoFit/>
          </a:bodyPr>
          <a:lstStyle/>
          <a:p>
            <a:pPr algn="l"/>
            <a:r>
              <a:rPr sz="1000" b="1" i="0">
                <a:solidFill>
                  <a:srgbClr val="1D4E89"/>
                </a:solidFill>
                <a:latin typeface="Calibri"/>
              </a:rPr>
              <a:t>CLEANED SIZE</a:t>
            </a:r>
          </a:p>
        </p:txBody>
      </p:sp>
      <p:sp>
        <p:nvSpPr>
          <p:cNvPr id="14" name="TextBox 13"/>
          <p:cNvSpPr txBox="1"/>
          <p:nvPr/>
        </p:nvSpPr>
        <p:spPr>
          <a:xfrm>
            <a:off x="411480" y="3246120"/>
            <a:ext cx="5394960" cy="265176"/>
          </a:xfrm>
          <a:prstGeom prst="rect">
            <a:avLst/>
          </a:prstGeom>
          <a:noFill/>
        </p:spPr>
        <p:txBody>
          <a:bodyPr wrap="square" anchor="t" lIns="0" rIns="0" tIns="0" bIns="0">
            <a:spAutoFit/>
          </a:bodyPr>
          <a:lstStyle/>
          <a:p>
            <a:pPr algn="l"/>
            <a:r>
              <a:rPr sz="1150" b="0" i="0">
                <a:solidFill>
                  <a:srgbClr val="22272E"/>
                </a:solidFill>
                <a:latin typeface="Calibri"/>
              </a:rPr>
              <a:t>117,922 rows × 53 leakage-free features</a:t>
            </a:r>
          </a:p>
        </p:txBody>
      </p:sp>
      <p:sp>
        <p:nvSpPr>
          <p:cNvPr id="15" name="TextBox 14"/>
          <p:cNvSpPr txBox="1"/>
          <p:nvPr/>
        </p:nvSpPr>
        <p:spPr>
          <a:xfrm>
            <a:off x="411480" y="3611880"/>
            <a:ext cx="5394960" cy="219456"/>
          </a:xfrm>
          <a:prstGeom prst="rect">
            <a:avLst/>
          </a:prstGeom>
          <a:noFill/>
        </p:spPr>
        <p:txBody>
          <a:bodyPr wrap="square" anchor="t" lIns="0" rIns="0" tIns="0" bIns="0">
            <a:spAutoFit/>
          </a:bodyPr>
          <a:lstStyle/>
          <a:p>
            <a:pPr algn="l"/>
            <a:r>
              <a:rPr sz="1000" b="1" i="0">
                <a:solidFill>
                  <a:srgbClr val="1D4E89"/>
                </a:solidFill>
                <a:latin typeface="Calibri"/>
              </a:rPr>
              <a:t>TRAIN / TEST SPLIT</a:t>
            </a:r>
          </a:p>
        </p:txBody>
      </p:sp>
      <p:sp>
        <p:nvSpPr>
          <p:cNvPr id="16" name="TextBox 15"/>
          <p:cNvSpPr txBox="1"/>
          <p:nvPr/>
        </p:nvSpPr>
        <p:spPr>
          <a:xfrm>
            <a:off x="411480" y="3849624"/>
            <a:ext cx="5394960" cy="265176"/>
          </a:xfrm>
          <a:prstGeom prst="rect">
            <a:avLst/>
          </a:prstGeom>
          <a:noFill/>
        </p:spPr>
        <p:txBody>
          <a:bodyPr wrap="square" anchor="t" lIns="0" rIns="0" tIns="0" bIns="0">
            <a:spAutoFit/>
          </a:bodyPr>
          <a:lstStyle/>
          <a:p>
            <a:pPr algn="l"/>
            <a:r>
              <a:rPr sz="1150" b="0" i="0">
                <a:solidFill>
                  <a:srgbClr val="22272E"/>
                </a:solidFill>
                <a:latin typeface="Calibri"/>
              </a:rPr>
              <a:t>94,337 / 23,585 rows (80/20, random_state=42)</a:t>
            </a:r>
          </a:p>
        </p:txBody>
      </p:sp>
      <p:sp>
        <p:nvSpPr>
          <p:cNvPr id="17" name="TextBox 16"/>
          <p:cNvSpPr txBox="1"/>
          <p:nvPr/>
        </p:nvSpPr>
        <p:spPr>
          <a:xfrm>
            <a:off x="411480" y="4215384"/>
            <a:ext cx="5394960" cy="219456"/>
          </a:xfrm>
          <a:prstGeom prst="rect">
            <a:avLst/>
          </a:prstGeom>
          <a:noFill/>
        </p:spPr>
        <p:txBody>
          <a:bodyPr wrap="square" anchor="t" lIns="0" rIns="0" tIns="0" bIns="0">
            <a:spAutoFit/>
          </a:bodyPr>
          <a:lstStyle/>
          <a:p>
            <a:pPr algn="l"/>
            <a:r>
              <a:rPr sz="1000" b="1" i="0">
                <a:solidFill>
                  <a:srgbClr val="1D4E89"/>
                </a:solidFill>
                <a:latin typeface="Calibri"/>
              </a:rPr>
              <a:t>MODELS EVALUATED</a:t>
            </a:r>
          </a:p>
        </p:txBody>
      </p:sp>
      <p:sp>
        <p:nvSpPr>
          <p:cNvPr id="18" name="TextBox 17"/>
          <p:cNvSpPr txBox="1"/>
          <p:nvPr/>
        </p:nvSpPr>
        <p:spPr>
          <a:xfrm>
            <a:off x="411480" y="4453128"/>
            <a:ext cx="5394960" cy="484632"/>
          </a:xfrm>
          <a:prstGeom prst="rect">
            <a:avLst/>
          </a:prstGeom>
          <a:noFill/>
        </p:spPr>
        <p:txBody>
          <a:bodyPr wrap="square" anchor="t" lIns="0" rIns="0" tIns="0" bIns="0">
            <a:spAutoFit/>
          </a:bodyPr>
          <a:lstStyle/>
          <a:p>
            <a:pPr algn="l"/>
            <a:r>
              <a:rPr sz="1150" b="0" i="0">
                <a:solidFill>
                  <a:srgbClr val="22272E"/>
                </a:solidFill>
                <a:latin typeface="Calibri"/>
              </a:rPr>
              <a:t>10: Linear, Ridge, Lasso, ElasticNet, Polynomial,
Decision Tree, Random Forest, Gradient Boosting, SVR, KNN</a:t>
            </a:r>
          </a:p>
        </p:txBody>
      </p:sp>
      <p:sp>
        <p:nvSpPr>
          <p:cNvPr id="19" name="Rectangle 18"/>
          <p:cNvSpPr/>
          <p:nvPr/>
        </p:nvSpPr>
        <p:spPr>
          <a:xfrm>
            <a:off x="6355080" y="1234440"/>
            <a:ext cx="5394960" cy="384048"/>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1307592"/>
            <a:ext cx="5029200" cy="256032"/>
          </a:xfrm>
          <a:prstGeom prst="rect">
            <a:avLst/>
          </a:prstGeom>
          <a:noFill/>
        </p:spPr>
        <p:txBody>
          <a:bodyPr wrap="square" anchor="t" lIns="0" rIns="0" tIns="0" bIns="0">
            <a:spAutoFit/>
          </a:bodyPr>
          <a:lstStyle/>
          <a:p>
            <a:pPr algn="l"/>
            <a:r>
              <a:rPr sz="1400" b="1" i="0">
                <a:solidFill>
                  <a:srgbClr val="FFFFFF"/>
                </a:solidFill>
                <a:latin typeface="Calibri"/>
              </a:rPr>
              <a:t>CLASSIFICATION TRACK</a:t>
            </a:r>
          </a:p>
        </p:txBody>
      </p:sp>
      <p:sp>
        <p:nvSpPr>
          <p:cNvPr id="21" name="TextBox 20"/>
          <p:cNvSpPr txBox="1"/>
          <p:nvPr/>
        </p:nvSpPr>
        <p:spPr>
          <a:xfrm>
            <a:off x="6355080" y="1801368"/>
            <a:ext cx="5394960" cy="219456"/>
          </a:xfrm>
          <a:prstGeom prst="rect">
            <a:avLst/>
          </a:prstGeom>
          <a:noFill/>
        </p:spPr>
        <p:txBody>
          <a:bodyPr wrap="square" anchor="t" lIns="0" rIns="0" tIns="0" bIns="0">
            <a:spAutoFit/>
          </a:bodyPr>
          <a:lstStyle/>
          <a:p>
            <a:pPr algn="l"/>
            <a:r>
              <a:rPr sz="1000" b="1" i="0">
                <a:solidFill>
                  <a:srgbClr val="0F6B63"/>
                </a:solidFill>
                <a:latin typeface="Calibri"/>
              </a:rPr>
              <a:t>DATASET</a:t>
            </a:r>
          </a:p>
        </p:txBody>
      </p:sp>
      <p:sp>
        <p:nvSpPr>
          <p:cNvPr id="22" name="TextBox 21"/>
          <p:cNvSpPr txBox="1"/>
          <p:nvPr/>
        </p:nvSpPr>
        <p:spPr>
          <a:xfrm>
            <a:off x="6355080" y="2039112"/>
            <a:ext cx="5394960" cy="265176"/>
          </a:xfrm>
          <a:prstGeom prst="rect">
            <a:avLst/>
          </a:prstGeom>
          <a:noFill/>
        </p:spPr>
        <p:txBody>
          <a:bodyPr wrap="square" anchor="t" lIns="0" rIns="0" tIns="0" bIns="0">
            <a:spAutoFit/>
          </a:bodyPr>
          <a:lstStyle/>
          <a:p>
            <a:pPr algn="l"/>
            <a:r>
              <a:rPr sz="1150" b="0" i="0">
                <a:solidFill>
                  <a:srgbClr val="22272E"/>
                </a:solidFill>
                <a:latin typeface="Calibri"/>
              </a:rPr>
              <a:t>Dry Bean Dataset (UCI Machine Learning Repository)</a:t>
            </a:r>
          </a:p>
        </p:txBody>
      </p:sp>
      <p:sp>
        <p:nvSpPr>
          <p:cNvPr id="23" name="TextBox 22"/>
          <p:cNvSpPr txBox="1"/>
          <p:nvPr/>
        </p:nvSpPr>
        <p:spPr>
          <a:xfrm>
            <a:off x="6355080" y="2404872"/>
            <a:ext cx="5394960" cy="219456"/>
          </a:xfrm>
          <a:prstGeom prst="rect">
            <a:avLst/>
          </a:prstGeom>
          <a:noFill/>
        </p:spPr>
        <p:txBody>
          <a:bodyPr wrap="square" anchor="t" lIns="0" rIns="0" tIns="0" bIns="0">
            <a:spAutoFit/>
          </a:bodyPr>
          <a:lstStyle/>
          <a:p>
            <a:pPr algn="l"/>
            <a:r>
              <a:rPr sz="1000" b="1" i="0">
                <a:solidFill>
                  <a:srgbClr val="0F6B63"/>
                </a:solidFill>
                <a:latin typeface="Calibri"/>
              </a:rPr>
              <a:t>TASK</a:t>
            </a:r>
          </a:p>
        </p:txBody>
      </p:sp>
      <p:sp>
        <p:nvSpPr>
          <p:cNvPr id="24" name="TextBox 23"/>
          <p:cNvSpPr txBox="1"/>
          <p:nvPr/>
        </p:nvSpPr>
        <p:spPr>
          <a:xfrm>
            <a:off x="6355080" y="2642616"/>
            <a:ext cx="5394960" cy="265176"/>
          </a:xfrm>
          <a:prstGeom prst="rect">
            <a:avLst/>
          </a:prstGeom>
          <a:noFill/>
        </p:spPr>
        <p:txBody>
          <a:bodyPr wrap="square" anchor="t" lIns="0" rIns="0" tIns="0" bIns="0">
            <a:spAutoFit/>
          </a:bodyPr>
          <a:lstStyle/>
          <a:p>
            <a:pPr algn="l"/>
            <a:r>
              <a:rPr sz="1150" b="0" i="0">
                <a:solidFill>
                  <a:srgbClr val="22272E"/>
                </a:solidFill>
                <a:latin typeface="Calibri"/>
              </a:rPr>
              <a:t>Predict bean cultivar among 7 classes</a:t>
            </a:r>
          </a:p>
        </p:txBody>
      </p:sp>
      <p:sp>
        <p:nvSpPr>
          <p:cNvPr id="25" name="TextBox 24"/>
          <p:cNvSpPr txBox="1"/>
          <p:nvPr/>
        </p:nvSpPr>
        <p:spPr>
          <a:xfrm>
            <a:off x="6355080" y="3008376"/>
            <a:ext cx="5394960" cy="219456"/>
          </a:xfrm>
          <a:prstGeom prst="rect">
            <a:avLst/>
          </a:prstGeom>
          <a:noFill/>
        </p:spPr>
        <p:txBody>
          <a:bodyPr wrap="square" anchor="t" lIns="0" rIns="0" tIns="0" bIns="0">
            <a:spAutoFit/>
          </a:bodyPr>
          <a:lstStyle/>
          <a:p>
            <a:pPr algn="l"/>
            <a:r>
              <a:rPr sz="1000" b="1" i="0">
                <a:solidFill>
                  <a:srgbClr val="0F6B63"/>
                </a:solidFill>
                <a:latin typeface="Calibri"/>
              </a:rPr>
              <a:t>CLEANED SIZE</a:t>
            </a:r>
          </a:p>
        </p:txBody>
      </p:sp>
      <p:sp>
        <p:nvSpPr>
          <p:cNvPr id="26" name="TextBox 25"/>
          <p:cNvSpPr txBox="1"/>
          <p:nvPr/>
        </p:nvSpPr>
        <p:spPr>
          <a:xfrm>
            <a:off x="6355080" y="3246120"/>
            <a:ext cx="5394960" cy="265176"/>
          </a:xfrm>
          <a:prstGeom prst="rect">
            <a:avLst/>
          </a:prstGeom>
          <a:noFill/>
        </p:spPr>
        <p:txBody>
          <a:bodyPr wrap="square" anchor="t" lIns="0" rIns="0" tIns="0" bIns="0">
            <a:spAutoFit/>
          </a:bodyPr>
          <a:lstStyle/>
          <a:p>
            <a:pPr algn="l"/>
            <a:r>
              <a:rPr sz="1150" b="0" i="0">
                <a:solidFill>
                  <a:srgbClr val="22272E"/>
                </a:solidFill>
                <a:latin typeface="Calibri"/>
              </a:rPr>
              <a:t>13,543 rows (68 duplicates removed) × 17 features</a:t>
            </a:r>
          </a:p>
        </p:txBody>
      </p:sp>
      <p:sp>
        <p:nvSpPr>
          <p:cNvPr id="27" name="TextBox 26"/>
          <p:cNvSpPr txBox="1"/>
          <p:nvPr/>
        </p:nvSpPr>
        <p:spPr>
          <a:xfrm>
            <a:off x="6355080" y="3611880"/>
            <a:ext cx="5394960" cy="219456"/>
          </a:xfrm>
          <a:prstGeom prst="rect">
            <a:avLst/>
          </a:prstGeom>
          <a:noFill/>
        </p:spPr>
        <p:txBody>
          <a:bodyPr wrap="square" anchor="t" lIns="0" rIns="0" tIns="0" bIns="0">
            <a:spAutoFit/>
          </a:bodyPr>
          <a:lstStyle/>
          <a:p>
            <a:pPr algn="l"/>
            <a:r>
              <a:rPr sz="1000" b="1" i="0">
                <a:solidFill>
                  <a:srgbClr val="0F6B63"/>
                </a:solidFill>
                <a:latin typeface="Calibri"/>
              </a:rPr>
              <a:t>TRAIN / TEST SPLIT</a:t>
            </a:r>
          </a:p>
        </p:txBody>
      </p:sp>
      <p:sp>
        <p:nvSpPr>
          <p:cNvPr id="28" name="TextBox 27"/>
          <p:cNvSpPr txBox="1"/>
          <p:nvPr/>
        </p:nvSpPr>
        <p:spPr>
          <a:xfrm>
            <a:off x="6355080" y="3849624"/>
            <a:ext cx="5394960" cy="265176"/>
          </a:xfrm>
          <a:prstGeom prst="rect">
            <a:avLst/>
          </a:prstGeom>
          <a:noFill/>
        </p:spPr>
        <p:txBody>
          <a:bodyPr wrap="square" anchor="t" lIns="0" rIns="0" tIns="0" bIns="0">
            <a:spAutoFit/>
          </a:bodyPr>
          <a:lstStyle/>
          <a:p>
            <a:pPr algn="l"/>
            <a:r>
              <a:rPr sz="1150" b="0" i="0">
                <a:solidFill>
                  <a:srgbClr val="22272E"/>
                </a:solidFill>
                <a:latin typeface="Calibri"/>
              </a:rPr>
              <a:t>10,834 / 2,709 rows (80/20, stratified, random_state=42)</a:t>
            </a:r>
          </a:p>
        </p:txBody>
      </p:sp>
      <p:sp>
        <p:nvSpPr>
          <p:cNvPr id="29" name="TextBox 28"/>
          <p:cNvSpPr txBox="1"/>
          <p:nvPr/>
        </p:nvSpPr>
        <p:spPr>
          <a:xfrm>
            <a:off x="6355080" y="4215384"/>
            <a:ext cx="5394960" cy="219456"/>
          </a:xfrm>
          <a:prstGeom prst="rect">
            <a:avLst/>
          </a:prstGeom>
          <a:noFill/>
        </p:spPr>
        <p:txBody>
          <a:bodyPr wrap="square" anchor="t" lIns="0" rIns="0" tIns="0" bIns="0">
            <a:spAutoFit/>
          </a:bodyPr>
          <a:lstStyle/>
          <a:p>
            <a:pPr algn="l"/>
            <a:r>
              <a:rPr sz="1000" b="1" i="0">
                <a:solidFill>
                  <a:srgbClr val="0F6B63"/>
                </a:solidFill>
                <a:latin typeface="Calibri"/>
              </a:rPr>
              <a:t>MODELS EVALUATED</a:t>
            </a:r>
          </a:p>
        </p:txBody>
      </p:sp>
      <p:sp>
        <p:nvSpPr>
          <p:cNvPr id="30" name="TextBox 29"/>
          <p:cNvSpPr txBox="1"/>
          <p:nvPr/>
        </p:nvSpPr>
        <p:spPr>
          <a:xfrm>
            <a:off x="6355080" y="4453128"/>
            <a:ext cx="5394960" cy="484632"/>
          </a:xfrm>
          <a:prstGeom prst="rect">
            <a:avLst/>
          </a:prstGeom>
          <a:noFill/>
        </p:spPr>
        <p:txBody>
          <a:bodyPr wrap="square" anchor="t" lIns="0" rIns="0" tIns="0" bIns="0">
            <a:spAutoFit/>
          </a:bodyPr>
          <a:lstStyle/>
          <a:p>
            <a:pPr algn="l"/>
            <a:r>
              <a:rPr sz="1150" b="0" i="0">
                <a:solidFill>
                  <a:srgbClr val="22272E"/>
                </a:solidFill>
                <a:latin typeface="Calibri"/>
              </a:rPr>
              <a:t>5 (Part A): Logistic Regression, KNN, Decision Tree,
Naive Bayes (Gaussian), SVM (linear &amp; RBF)</a:t>
            </a:r>
          </a:p>
        </p:txBody>
      </p:sp>
      <p:sp>
        <p:nvSpPr>
          <p:cNvPr id="31" name="Rectangle 30"/>
          <p:cNvSpPr/>
          <p:nvPr/>
        </p:nvSpPr>
        <p:spPr>
          <a:xfrm>
            <a:off x="411480" y="5074920"/>
            <a:ext cx="11365992" cy="25400"/>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5166360"/>
            <a:ext cx="5486400" cy="274320"/>
          </a:xfrm>
          <a:prstGeom prst="rect">
            <a:avLst/>
          </a:prstGeom>
          <a:noFill/>
        </p:spPr>
        <p:txBody>
          <a:bodyPr wrap="square" anchor="t" lIns="0" rIns="0" tIns="0" bIns="0">
            <a:spAutoFit/>
          </a:bodyPr>
          <a:lstStyle/>
          <a:p>
            <a:pPr algn="l"/>
            <a:r>
              <a:rPr sz="1250" b="1" i="0">
                <a:solidFill>
                  <a:srgbClr val="1B2636"/>
                </a:solidFill>
                <a:latin typeface="Calibri"/>
              </a:rPr>
              <a:t>EVALUATION PROTOCOL — COMMON TO BOTH TRACKS</a:t>
            </a:r>
          </a:p>
        </p:txBody>
      </p:sp>
      <p:sp>
        <p:nvSpPr>
          <p:cNvPr id="33" name="TextBox 32"/>
          <p:cNvSpPr txBox="1"/>
          <p:nvPr/>
        </p:nvSpPr>
        <p:spPr>
          <a:xfrm>
            <a:off x="411480" y="5513832"/>
            <a:ext cx="11338560" cy="1280160"/>
          </a:xfrm>
          <a:prstGeom prst="rect">
            <a:avLst/>
          </a:prstGeom>
          <a:noFill/>
        </p:spPr>
        <p:txBody>
          <a:bodyPr wrap="square" lIns="0" rIns="0" tIns="0" bIns="0">
            <a:spAutoFit/>
          </a:bodyPr>
          <a:lstStyle/>
          <a:p>
            <a:pPr algn="l">
              <a:lnSpc>
                <a:spcPct val="115000"/>
              </a:lnSpc>
              <a:spcAft>
                <a:spcPts val="500"/>
              </a:spcAft>
            </a:pPr>
            <a:r>
              <a:rPr sz="1150" b="0">
                <a:solidFill>
                  <a:srgbClr val="454F5B"/>
                </a:solidFill>
                <a:latin typeface="Calibri"/>
              </a:rPr>
              <a:t>•  Deterministic 80/20 splits; all scalers and encoders are fit strictly on training data only.</a:t>
            </a:r>
          </a:p>
          <a:p>
            <a:pPr algn="l">
              <a:lnSpc>
                <a:spcPct val="115000"/>
              </a:lnSpc>
              <a:spcAft>
                <a:spcPts val="500"/>
              </a:spcAft>
            </a:pPr>
            <a:r>
              <a:rPr sz="1150" b="0">
                <a:solidFill>
                  <a:srgbClr val="454F5B"/>
                </a:solidFill>
                <a:latin typeface="Calibri"/>
              </a:rPr>
              <a:t>•  Hyperparameters tuned via GridSearchCV with cross-validation performed on training data only.</a:t>
            </a:r>
          </a:p>
          <a:p>
            <a:pPr algn="l">
              <a:lnSpc>
                <a:spcPct val="115000"/>
              </a:lnSpc>
              <a:spcAft>
                <a:spcPts val="500"/>
              </a:spcAft>
            </a:pPr>
            <a:r>
              <a:rPr sz="1150" b="0">
                <a:solidFill>
                  <a:srgbClr val="454F5B"/>
                </a:solidFill>
                <a:latin typeface="Calibri"/>
              </a:rPr>
              <a:t>•  Every model is evaluated exactly once on its held-out test set — no test-set model selection.</a:t>
            </a:r>
          </a:p>
          <a:p>
            <a:pPr algn="l">
              <a:lnSpc>
                <a:spcPct val="115000"/>
              </a:lnSpc>
              <a:spcAft>
                <a:spcPts val="500"/>
              </a:spcAft>
            </a:pPr>
            <a:r>
              <a:rPr sz="1150" b="0">
                <a:solidFill>
                  <a:srgbClr val="454F5B"/>
                </a:solidFill>
                <a:latin typeface="Calibri"/>
              </a:rPr>
              <a:t>•  Every metric, parameter and figure in this deck is transcribed directly from executed notebook output.</a:t>
            </a:r>
          </a:p>
        </p:txBody>
      </p:sp>
      <p:pic>
        <p:nvPicPr>
          <p:cNvPr id="34" name="Picture 33" descr="1.png"/>
          <p:cNvPicPr>
            <a:picLocks noChangeAspect="1"/>
          </p:cNvPicPr>
          <p:nvPr/>
        </p:nvPicPr>
        <p:blipFill>
          <a:blip r:embed="rId2"/>
          <a:stretch>
            <a:fillRect/>
          </a:stretch>
        </p:blipFill>
        <p:spPr>
          <a:xfrm>
            <a:off x="411480" y="6528816"/>
            <a:ext cx="274320" cy="274320"/>
          </a:xfrm>
          <a:prstGeom prst="rect">
            <a:avLst/>
          </a:prstGeom>
        </p:spPr>
      </p:pic>
      <p:sp>
        <p:nvSpPr>
          <p:cNvPr id="35" name="TextBox 34"/>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36" name="TextBox 35"/>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Dataset &amp; Preprocessing</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Dataset</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DATASET FACTS</a:t>
            </a:r>
          </a:p>
        </p:txBody>
      </p:sp>
      <p:sp>
        <p:nvSpPr>
          <p:cNvPr id="9" name="TextBox 8"/>
          <p:cNvSpPr txBox="1"/>
          <p:nvPr/>
        </p:nvSpPr>
        <p:spPr>
          <a:xfrm>
            <a:off x="411480" y="1463040"/>
            <a:ext cx="4709160" cy="1074419"/>
          </a:xfrm>
          <a:prstGeom prst="rect">
            <a:avLst/>
          </a:prstGeom>
          <a:noFill/>
        </p:spPr>
        <p:txBody>
          <a:bodyPr wrap="square" lIns="0" rIns="0" tIns="0" bIns="0">
            <a:spAutoFit/>
          </a:bodyPr>
          <a:lstStyle/>
          <a:p>
            <a:pPr algn="l">
              <a:lnSpc>
                <a:spcPct val="108000"/>
              </a:lnSpc>
              <a:spcAft>
                <a:spcPts val="300"/>
              </a:spcAft>
            </a:pPr>
            <a:r>
              <a:rPr sz="1030" b="0">
                <a:solidFill>
                  <a:srgbClr val="454F5B"/>
                </a:solidFill>
                <a:latin typeface="Calibri"/>
              </a:rPr>
              <a:t>• RT_IoT2022 IoT network-traffic dataset</a:t>
            </a:r>
          </a:p>
          <a:p>
            <a:pPr algn="l">
              <a:lnSpc>
                <a:spcPct val="108000"/>
              </a:lnSpc>
              <a:spcAft>
                <a:spcPts val="300"/>
              </a:spcAft>
            </a:pPr>
            <a:r>
              <a:rPr sz="1030" b="0">
                <a:solidFill>
                  <a:srgbClr val="454F5B"/>
                </a:solidFill>
                <a:latin typeface="Calibri"/>
              </a:rPr>
              <a:t>• Raw shape: 123,117 rows × 85 columns, zero missing values</a:t>
            </a:r>
          </a:p>
          <a:p>
            <a:pPr algn="l">
              <a:lnSpc>
                <a:spcPct val="108000"/>
              </a:lnSpc>
              <a:spcAft>
                <a:spcPts val="300"/>
              </a:spcAft>
            </a:pPr>
            <a:r>
              <a:rPr sz="1030" b="0">
                <a:solidFill>
                  <a:srgbClr val="454F5B"/>
                </a:solidFill>
                <a:latin typeface="Calibri"/>
              </a:rPr>
              <a:t>• Target: flow_duration (seconds) — continuous, extremely right-skewed</a:t>
            </a:r>
          </a:p>
          <a:p>
            <a:pPr algn="l">
              <a:lnSpc>
                <a:spcPct val="108000"/>
              </a:lnSpc>
              <a:spcAft>
                <a:spcPts val="300"/>
              </a:spcAft>
            </a:pPr>
            <a:r>
              <a:rPr sz="1030" b="0">
                <a:solidFill>
                  <a:srgbClr val="454F5B"/>
                </a:solidFill>
                <a:latin typeface="Calibri"/>
              </a:rPr>
              <a:t>• Skewness = 128.39, Kurtosis = 18,489.7 (full cleaned dataset)</a:t>
            </a:r>
          </a:p>
          <a:p>
            <a:pPr algn="l">
              <a:lnSpc>
                <a:spcPct val="108000"/>
              </a:lnSpc>
              <a:spcAft>
                <a:spcPts val="300"/>
              </a:spcAft>
            </a:pPr>
            <a:r>
              <a:rPr sz="1030" b="0">
                <a:solidFill>
                  <a:srgbClr val="454F5B"/>
                </a:solidFill>
                <a:latin typeface="Calibri"/>
              </a:rPr>
              <a:t>• Median duration ≈ 4 μs; maximum ≈ 21,728 s (≈ 6 hours)</a:t>
            </a:r>
          </a:p>
        </p:txBody>
      </p:sp>
      <p:sp>
        <p:nvSpPr>
          <p:cNvPr id="10" name="Rectangle 9"/>
          <p:cNvSpPr/>
          <p:nvPr/>
        </p:nvSpPr>
        <p:spPr>
          <a:xfrm>
            <a:off x="411480" y="2541015"/>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528315"/>
            <a:ext cx="4206240" cy="256032"/>
          </a:xfrm>
          <a:prstGeom prst="rect">
            <a:avLst/>
          </a:prstGeom>
          <a:noFill/>
        </p:spPr>
        <p:txBody>
          <a:bodyPr wrap="square" anchor="t" lIns="0" rIns="0" tIns="0" bIns="0">
            <a:spAutoFit/>
          </a:bodyPr>
          <a:lstStyle/>
          <a:p>
            <a:pPr algn="l"/>
            <a:r>
              <a:rPr sz="1250" b="1" i="0">
                <a:solidFill>
                  <a:srgbClr val="1B2636"/>
                </a:solidFill>
                <a:latin typeface="Calibri"/>
              </a:rPr>
              <a:t>CLEANING, LEAKAGE PREVENTION &amp; SPLIT</a:t>
            </a:r>
          </a:p>
        </p:txBody>
      </p:sp>
      <p:sp>
        <p:nvSpPr>
          <p:cNvPr id="12" name="TextBox 11"/>
          <p:cNvSpPr txBox="1"/>
          <p:nvPr/>
        </p:nvSpPr>
        <p:spPr>
          <a:xfrm>
            <a:off x="411480" y="2802635"/>
            <a:ext cx="4709160" cy="1824228"/>
          </a:xfrm>
          <a:prstGeom prst="rect">
            <a:avLst/>
          </a:prstGeom>
          <a:noFill/>
        </p:spPr>
        <p:txBody>
          <a:bodyPr wrap="square" lIns="0" rIns="0" tIns="0" bIns="0">
            <a:spAutoFit/>
          </a:bodyPr>
          <a:lstStyle/>
          <a:p>
            <a:pPr algn="l">
              <a:lnSpc>
                <a:spcPct val="108000"/>
              </a:lnSpc>
              <a:spcAft>
                <a:spcPts val="300"/>
              </a:spcAft>
            </a:pPr>
            <a:r>
              <a:rPr sz="1030" b="0">
                <a:solidFill>
                  <a:srgbClr val="454F5B"/>
                </a:solidFill>
                <a:latin typeface="Calibri"/>
              </a:rPr>
              <a:t>• Dropped 'Unnamed: 0' (row index) and 'bwd_URG_flag_count' (zero variance)</a:t>
            </a:r>
          </a:p>
          <a:p>
            <a:pPr algn="l">
              <a:lnSpc>
                <a:spcPct val="108000"/>
              </a:lnSpc>
              <a:spcAft>
                <a:spcPts val="300"/>
              </a:spcAft>
            </a:pPr>
            <a:r>
              <a:rPr sz="1030" b="0">
                <a:solidFill>
                  <a:srgbClr val="454F5B"/>
                </a:solidFill>
                <a:latin typeface="Calibri"/>
              </a:rPr>
              <a:t>• Removed 5,195 duplicate rows (4.22%) → 117,922 rows × 83 columns</a:t>
            </a:r>
          </a:p>
          <a:p>
            <a:pPr algn="l">
              <a:lnSpc>
                <a:spcPct val="108000"/>
              </a:lnSpc>
              <a:spcAft>
                <a:spcPts val="300"/>
              </a:spcAft>
            </a:pPr>
            <a:r>
              <a:rPr sz="1030" b="0">
                <a:solidFill>
                  <a:srgbClr val="454F5B"/>
                </a:solidFill>
                <a:latin typeface="Calibri"/>
              </a:rPr>
              <a:t>• Purged 30 leakage columns: 15 IAT timing, 5 active, 5 idle, 4 rate-derived, + Attack_type label → 53 leakage-free features</a:t>
            </a:r>
          </a:p>
          <a:p>
            <a:pPr algn="l">
              <a:lnSpc>
                <a:spcPct val="108000"/>
              </a:lnSpc>
              <a:spcAft>
                <a:spcPts val="300"/>
              </a:spcAft>
            </a:pPr>
            <a:r>
              <a:rPr sz="1030" b="0">
                <a:solidFill>
                  <a:srgbClr val="454F5B"/>
                </a:solidFill>
                <a:latin typeface="Calibri"/>
              </a:rPr>
              <a:t>• Engineered total_packets = fwd_pkts_tot + bwd_pkts_tot (r = 0.39 with target)</a:t>
            </a:r>
          </a:p>
          <a:p>
            <a:pPr algn="l">
              <a:lnSpc>
                <a:spcPct val="108000"/>
              </a:lnSpc>
              <a:spcAft>
                <a:spcPts val="300"/>
              </a:spcAft>
            </a:pPr>
            <a:r>
              <a:rPr sz="1030" b="0">
                <a:solidFill>
                  <a:srgbClr val="454F5B"/>
                </a:solidFill>
                <a:latin typeface="Calibri"/>
              </a:rPr>
              <a:t>• 80/20 split (seed=42): 94,337 train / 23,585 test rows (JSON-persisted indices)</a:t>
            </a:r>
          </a:p>
        </p:txBody>
      </p:sp>
      <p:sp>
        <p:nvSpPr>
          <p:cNvPr id="13" name="Rectangle 12"/>
          <p:cNvSpPr/>
          <p:nvPr/>
        </p:nvSpPr>
        <p:spPr>
          <a:xfrm>
            <a:off x="411480" y="4648707"/>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4636007"/>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5" name="TextBox 14"/>
          <p:cNvSpPr txBox="1"/>
          <p:nvPr/>
        </p:nvSpPr>
        <p:spPr>
          <a:xfrm>
            <a:off x="411480" y="4892039"/>
            <a:ext cx="4709160" cy="1188720"/>
          </a:xfrm>
          <a:prstGeom prst="rect">
            <a:avLst/>
          </a:prstGeom>
          <a:noFill/>
        </p:spPr>
        <p:txBody>
          <a:bodyPr wrap="square" anchor="t" lIns="0" rIns="0" tIns="0" bIns="0">
            <a:spAutoFit/>
          </a:bodyPr>
          <a:lstStyle/>
          <a:p>
            <a:pPr algn="l"/>
            <a:r>
              <a:rPr sz="1030" b="0" i="0">
                <a:solidFill>
                  <a:srgbClr val="22272E"/>
                </a:solidFill>
                <a:latin typeface="Calibri"/>
              </a:rPr>
              <a:t>flow_duration spans microseconds to hours in the same column. 5-fold CV on training data showed inverting a log1p transform back to raw seconds causes catastrophic variance blowout for linear models, so all 10 regression models are trained and evaluated on the raw target scale.</a:t>
            </a:r>
          </a:p>
        </p:txBody>
      </p:sp>
      <p:pic>
        <p:nvPicPr>
          <p:cNvPr id="16" name="Picture 15" descr="cell14_Target_Distribution_Raw_vs_Log1p_Scale_0.png"/>
          <p:cNvPicPr>
            <a:picLocks noChangeAspect="1"/>
          </p:cNvPicPr>
          <p:nvPr/>
        </p:nvPicPr>
        <p:blipFill>
          <a:blip r:embed="rId2"/>
          <a:stretch>
            <a:fillRect/>
          </a:stretch>
        </p:blipFill>
        <p:spPr>
          <a:xfrm>
            <a:off x="5440680" y="2708859"/>
            <a:ext cx="6355080" cy="2080362"/>
          </a:xfrm>
          <a:prstGeom prst="rect">
            <a:avLst/>
          </a:prstGeom>
        </p:spPr>
      </p:pic>
      <p:sp>
        <p:nvSpPr>
          <p:cNvPr id="17" name="TextBox 16"/>
          <p:cNvSpPr txBox="1"/>
          <p:nvPr/>
        </p:nvSpPr>
        <p:spPr>
          <a:xfrm>
            <a:off x="5440680" y="617220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regression_preprocessing.ipynb, raw vs. log1p target distribution</a:t>
            </a:r>
          </a:p>
        </p:txBody>
      </p:sp>
      <p:pic>
        <p:nvPicPr>
          <p:cNvPr id="18" name="Picture 17" descr="1.png"/>
          <p:cNvPicPr>
            <a:picLocks noChangeAspect="1"/>
          </p:cNvPicPr>
          <p:nvPr/>
        </p:nvPicPr>
        <p:blipFill>
          <a:blip r:embed="rId3"/>
          <a:stretch>
            <a:fillRect/>
          </a:stretch>
        </p:blipFill>
        <p:spPr>
          <a:xfrm>
            <a:off x="411480" y="6528816"/>
            <a:ext cx="274320" cy="274320"/>
          </a:xfrm>
          <a:prstGeom prst="rect">
            <a:avLst/>
          </a:prstGeom>
        </p:spPr>
      </p:pic>
      <p:sp>
        <p:nvSpPr>
          <p:cNvPr id="19" name="TextBox 18"/>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0" name="TextBox 19"/>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Dataset &amp; Preprocessing</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Dataset</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DATASET FACTS</a:t>
            </a:r>
          </a:p>
        </p:txBody>
      </p:sp>
      <p:sp>
        <p:nvSpPr>
          <p:cNvPr id="9" name="TextBox 8"/>
          <p:cNvSpPr txBox="1"/>
          <p:nvPr/>
        </p:nvSpPr>
        <p:spPr>
          <a:xfrm>
            <a:off x="411480" y="1463040"/>
            <a:ext cx="4709160" cy="1449323"/>
          </a:xfrm>
          <a:prstGeom prst="rect">
            <a:avLst/>
          </a:prstGeom>
          <a:noFill/>
        </p:spPr>
        <p:txBody>
          <a:bodyPr wrap="square" lIns="0" rIns="0" tIns="0" bIns="0">
            <a:spAutoFit/>
          </a:bodyPr>
          <a:lstStyle/>
          <a:p>
            <a:pPr algn="l">
              <a:lnSpc>
                <a:spcPct val="108000"/>
              </a:lnSpc>
              <a:spcAft>
                <a:spcPts val="300"/>
              </a:spcAft>
            </a:pPr>
            <a:r>
              <a:rPr sz="1030" b="0">
                <a:solidFill>
                  <a:srgbClr val="454F5B"/>
                </a:solidFill>
                <a:latin typeface="Calibri"/>
              </a:rPr>
              <a:t>• Dry Bean Dataset (UCI Machine Learning Repository)</a:t>
            </a:r>
          </a:p>
          <a:p>
            <a:pPr algn="l">
              <a:lnSpc>
                <a:spcPct val="108000"/>
              </a:lnSpc>
              <a:spcAft>
                <a:spcPts val="300"/>
              </a:spcAft>
            </a:pPr>
            <a:r>
              <a:rPr sz="1030" b="0">
                <a:solidFill>
                  <a:srgbClr val="454F5B"/>
                </a:solidFill>
                <a:latin typeface="Calibri"/>
              </a:rPr>
              <a:t>• Raw shape: 13,611 rows × 17 columns, zero missing values</a:t>
            </a:r>
          </a:p>
          <a:p>
            <a:pPr algn="l">
              <a:lnSpc>
                <a:spcPct val="108000"/>
              </a:lnSpc>
              <a:spcAft>
                <a:spcPts val="300"/>
              </a:spcAft>
            </a:pPr>
            <a:r>
              <a:rPr sz="1030" b="0">
                <a:solidFill>
                  <a:srgbClr val="454F5B"/>
                </a:solidFill>
                <a:latin typeface="Calibri"/>
              </a:rPr>
              <a:t>• Target: Class — 7 cultivars (BARBUNYA, BOMBAY, CALI, DERMASON, HOROZ, SEKER, SIRA)</a:t>
            </a:r>
          </a:p>
          <a:p>
            <a:pPr algn="l">
              <a:lnSpc>
                <a:spcPct val="108000"/>
              </a:lnSpc>
              <a:spcAft>
                <a:spcPts val="300"/>
              </a:spcAft>
            </a:pPr>
            <a:r>
              <a:rPr sz="1030" b="0">
                <a:solidFill>
                  <a:srgbClr val="454F5B"/>
                </a:solidFill>
                <a:latin typeface="Calibri"/>
              </a:rPr>
              <a:t>• 16 morphological features: size (Area, Perimeter, axis lengths) + shape (Compactness, Eccentricity, Shape Factors 1–4)</a:t>
            </a:r>
          </a:p>
          <a:p>
            <a:pPr algn="l">
              <a:lnSpc>
                <a:spcPct val="108000"/>
              </a:lnSpc>
              <a:spcAft>
                <a:spcPts val="300"/>
              </a:spcAft>
            </a:pPr>
            <a:r>
              <a:rPr sz="1030" b="0">
                <a:solidFill>
                  <a:srgbClr val="454F5B"/>
                </a:solidFill>
                <a:latin typeface="Calibri"/>
              </a:rPr>
              <a:t>• Class imbalance: DERMASON largest (26.2%), BOMBAY smallest (3.9%)</a:t>
            </a:r>
          </a:p>
        </p:txBody>
      </p:sp>
      <p:sp>
        <p:nvSpPr>
          <p:cNvPr id="10" name="Rectangle 9"/>
          <p:cNvSpPr/>
          <p:nvPr/>
        </p:nvSpPr>
        <p:spPr>
          <a:xfrm>
            <a:off x="411480" y="2915919"/>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903219"/>
            <a:ext cx="4206240" cy="256032"/>
          </a:xfrm>
          <a:prstGeom prst="rect">
            <a:avLst/>
          </a:prstGeom>
          <a:noFill/>
        </p:spPr>
        <p:txBody>
          <a:bodyPr wrap="square" anchor="t" lIns="0" rIns="0" tIns="0" bIns="0">
            <a:spAutoFit/>
          </a:bodyPr>
          <a:lstStyle/>
          <a:p>
            <a:pPr algn="l"/>
            <a:r>
              <a:rPr sz="1250" b="1" i="0">
                <a:solidFill>
                  <a:srgbClr val="1B2636"/>
                </a:solidFill>
                <a:latin typeface="Calibri"/>
              </a:rPr>
              <a:t>CLEANING, LEAKAGE PREVENTION &amp; SPLIT</a:t>
            </a:r>
          </a:p>
        </p:txBody>
      </p:sp>
      <p:sp>
        <p:nvSpPr>
          <p:cNvPr id="12" name="TextBox 11"/>
          <p:cNvSpPr txBox="1"/>
          <p:nvPr/>
        </p:nvSpPr>
        <p:spPr>
          <a:xfrm>
            <a:off x="411480" y="3177539"/>
            <a:ext cx="4709160" cy="1074419"/>
          </a:xfrm>
          <a:prstGeom prst="rect">
            <a:avLst/>
          </a:prstGeom>
          <a:noFill/>
        </p:spPr>
        <p:txBody>
          <a:bodyPr wrap="square" lIns="0" rIns="0" tIns="0" bIns="0">
            <a:spAutoFit/>
          </a:bodyPr>
          <a:lstStyle/>
          <a:p>
            <a:pPr algn="l">
              <a:lnSpc>
                <a:spcPct val="108000"/>
              </a:lnSpc>
              <a:spcAft>
                <a:spcPts val="300"/>
              </a:spcAft>
            </a:pPr>
            <a:r>
              <a:rPr sz="1030" b="0">
                <a:solidFill>
                  <a:srgbClr val="454F5B"/>
                </a:solidFill>
                <a:latin typeface="Calibri"/>
              </a:rPr>
              <a:t>• Removed 68 exact duplicates → 13,543 rows × 17 columns</a:t>
            </a:r>
          </a:p>
          <a:p>
            <a:pPr algn="l">
              <a:lnSpc>
                <a:spcPct val="108000"/>
              </a:lnSpc>
              <a:spcAft>
                <a:spcPts val="300"/>
              </a:spcAft>
            </a:pPr>
            <a:r>
              <a:rPr sz="1030" b="0">
                <a:solidFill>
                  <a:srgbClr val="454F5B"/>
                </a:solidFill>
                <a:latin typeface="Calibri"/>
              </a:rPr>
              <a:t>• Engineered Area_Perimeter_Ratio = Area / Perimeter</a:t>
            </a:r>
          </a:p>
          <a:p>
            <a:pPr algn="l">
              <a:lnSpc>
                <a:spcPct val="108000"/>
              </a:lnSpc>
              <a:spcAft>
                <a:spcPts val="300"/>
              </a:spcAft>
            </a:pPr>
            <a:r>
              <a:rPr sz="1030" b="0">
                <a:solidFill>
                  <a:srgbClr val="454F5B"/>
                </a:solidFill>
                <a:latin typeface="Calibri"/>
              </a:rPr>
              <a:t>• Target label-encoded to integers 0–6 via LabelEncoder</a:t>
            </a:r>
          </a:p>
          <a:p>
            <a:pPr algn="l">
              <a:lnSpc>
                <a:spcPct val="108000"/>
              </a:lnSpc>
              <a:spcAft>
                <a:spcPts val="300"/>
              </a:spcAft>
            </a:pPr>
            <a:r>
              <a:rPr sz="1030" b="0">
                <a:solidFill>
                  <a:srgbClr val="454F5B"/>
                </a:solidFill>
                <a:latin typeface="Calibri"/>
              </a:rPr>
              <a:t>• Stratified 80/20 split (seed=42): 10,834 train / 2,709 test rows</a:t>
            </a:r>
          </a:p>
          <a:p>
            <a:pPr algn="l">
              <a:lnSpc>
                <a:spcPct val="108000"/>
              </a:lnSpc>
              <a:spcAft>
                <a:spcPts val="300"/>
              </a:spcAft>
            </a:pPr>
            <a:r>
              <a:rPr sz="1030" b="0">
                <a:solidFill>
                  <a:srgbClr val="454F5B"/>
                </a:solidFill>
                <a:latin typeface="Calibri"/>
              </a:rPr>
              <a:t>• StandardScaler fit strictly on train, then applied to test</a:t>
            </a:r>
          </a:p>
        </p:txBody>
      </p:sp>
      <p:sp>
        <p:nvSpPr>
          <p:cNvPr id="13" name="Rectangle 12"/>
          <p:cNvSpPr/>
          <p:nvPr/>
        </p:nvSpPr>
        <p:spPr>
          <a:xfrm>
            <a:off x="411480" y="4273802"/>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4261102"/>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5" name="TextBox 14"/>
          <p:cNvSpPr txBox="1"/>
          <p:nvPr/>
        </p:nvSpPr>
        <p:spPr>
          <a:xfrm>
            <a:off x="411480" y="4517134"/>
            <a:ext cx="4709160" cy="1188720"/>
          </a:xfrm>
          <a:prstGeom prst="rect">
            <a:avLst/>
          </a:prstGeom>
          <a:noFill/>
        </p:spPr>
        <p:txBody>
          <a:bodyPr wrap="square" anchor="t" lIns="0" rIns="0" tIns="0" bIns="0">
            <a:spAutoFit/>
          </a:bodyPr>
          <a:lstStyle/>
          <a:p>
            <a:pPr algn="l"/>
            <a:r>
              <a:rPr sz="1030" b="0" i="0">
                <a:solidFill>
                  <a:srgbClr val="22272E"/>
                </a:solidFill>
                <a:latin typeface="Calibri"/>
              </a:rPr>
              <a:t>Because accuracy alone can hide poor minority-class performance, all 5 classifiers are additionally evaluated with weighted and macro F1-score, per-class precision/recall, and ROC-AUC — not accuracy alone.</a:t>
            </a:r>
          </a:p>
        </p:txBody>
      </p:sp>
      <p:pic>
        <p:nvPicPr>
          <p:cNvPr id="16" name="Picture 15" descr="cell11_4_Exploratory_Data_Analysis_EDA_Target_Class_Distribution_2.png"/>
          <p:cNvPicPr>
            <a:picLocks noChangeAspect="1"/>
          </p:cNvPicPr>
          <p:nvPr/>
        </p:nvPicPr>
        <p:blipFill>
          <a:blip r:embed="rId2"/>
          <a:stretch>
            <a:fillRect/>
          </a:stretch>
        </p:blipFill>
        <p:spPr>
          <a:xfrm>
            <a:off x="5440680" y="2160270"/>
            <a:ext cx="6355080" cy="3177540"/>
          </a:xfrm>
          <a:prstGeom prst="rect">
            <a:avLst/>
          </a:prstGeom>
        </p:spPr>
      </p:pic>
      <p:sp>
        <p:nvSpPr>
          <p:cNvPr id="17" name="TextBox 16"/>
          <p:cNvSpPr txBox="1"/>
          <p:nvPr/>
        </p:nvSpPr>
        <p:spPr>
          <a:xfrm>
            <a:off x="5440680" y="617220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target class distribution</a:t>
            </a:r>
          </a:p>
        </p:txBody>
      </p:sp>
      <p:pic>
        <p:nvPicPr>
          <p:cNvPr id="18" name="Picture 17" descr="1.png"/>
          <p:cNvPicPr>
            <a:picLocks noChangeAspect="1"/>
          </p:cNvPicPr>
          <p:nvPr/>
        </p:nvPicPr>
        <p:blipFill>
          <a:blip r:embed="rId3"/>
          <a:stretch>
            <a:fillRect/>
          </a:stretch>
        </p:blipFill>
        <p:spPr>
          <a:xfrm>
            <a:off x="411480" y="6528816"/>
            <a:ext cx="274320" cy="274320"/>
          </a:xfrm>
          <a:prstGeom prst="rect">
            <a:avLst/>
          </a:prstGeom>
        </p:spPr>
      </p:pic>
      <p:sp>
        <p:nvSpPr>
          <p:cNvPr id="19" name="TextBox 18"/>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0" name="TextBox 19"/>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Linear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1/10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Ordinary Least Squares fits a single linear hyperplane that minimizes the sum of squared residuals between predicted and actual flow duration. Categorical features (proto, service) are one-hot encoded and numeric features standardized before fitting. It assumes a linear relationship between packet/header volume and duration, with no thresholds or interactions.</a:t>
            </a:r>
          </a:p>
        </p:txBody>
      </p:sp>
      <p:sp>
        <p:nvSpPr>
          <p:cNvPr id="10" name="Rectangle 9"/>
          <p:cNvSpPr/>
          <p:nvPr/>
        </p:nvSpPr>
        <p:spPr>
          <a:xfrm>
            <a:off x="411480" y="268274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67004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94436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LinearRegression() — default parameters</a:t>
            </a:r>
          </a:p>
          <a:p>
            <a:pPr algn="l">
              <a:lnSpc>
                <a:spcPct val="108000"/>
              </a:lnSpc>
              <a:spcAft>
                <a:spcPts val="300"/>
              </a:spcAft>
            </a:pPr>
            <a:r>
              <a:rPr sz="1050" b="0">
                <a:solidFill>
                  <a:srgbClr val="454F5B"/>
                </a:solidFill>
                <a:latin typeface="Calibri"/>
              </a:rPr>
              <a:t>• Preprocessing: OneHotEncoder (cat) + StandardScaler (num)</a:t>
            </a:r>
          </a:p>
          <a:p>
            <a:pPr algn="l">
              <a:lnSpc>
                <a:spcPct val="108000"/>
              </a:lnSpc>
              <a:spcAft>
                <a:spcPts val="300"/>
              </a:spcAft>
            </a:pPr>
            <a:r>
              <a:rPr sz="1050" b="0">
                <a:solidFill>
                  <a:srgbClr val="454F5B"/>
                </a:solidFill>
                <a:latin typeface="Calibri"/>
              </a:rPr>
              <a:t>• 53 leakage-free features (timing/rate columns purged)</a:t>
            </a:r>
          </a:p>
          <a:p>
            <a:pPr algn="l">
              <a:lnSpc>
                <a:spcPct val="108000"/>
              </a:lnSpc>
              <a:spcAft>
                <a:spcPts val="300"/>
              </a:spcAft>
            </a:pPr>
            <a:r>
              <a:rPr sz="1050" b="0">
                <a:solidFill>
                  <a:srgbClr val="454F5B"/>
                </a:solidFill>
                <a:latin typeface="Calibri"/>
              </a:rPr>
              <a:t>• Trained on 94,337 rows, evaluated once on 23,585-row test set</a:t>
            </a:r>
          </a:p>
        </p:txBody>
      </p:sp>
      <p:sp>
        <p:nvSpPr>
          <p:cNvPr id="13" name="Rectangle 12"/>
          <p:cNvSpPr/>
          <p:nvPr/>
        </p:nvSpPr>
        <p:spPr>
          <a:xfrm>
            <a:off x="411480" y="396290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95020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4242816"/>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-4.4362</a:t>
                      </a:r>
                    </a:p>
                  </a:txBody>
                  <a:tcPr anchor="ctr">
                    <a:solidFill>
                      <a:srgbClr val="FFFFFF"/>
                    </a:solidFill>
                  </a:tcPr>
                </a:tc>
                <a:tc>
                  <a:txBody>
                    <a:bodyPr lIns="76200" rIns="50800" tIns="25400" bIns="25400"/>
                    <a:lstStyle/>
                    <a:p>
                      <a:pPr algn="ctr"/>
                      <a:r>
                        <a:rPr sz="1150" b="0">
                          <a:solidFill>
                            <a:srgbClr val="22272E"/>
                          </a:solidFill>
                          <a:latin typeface="Calibri"/>
                        </a:rPr>
                        <a:t>136.7931</a:t>
                      </a:r>
                    </a:p>
                  </a:txBody>
                  <a:tcPr anchor="ctr">
                    <a:solidFill>
                      <a:srgbClr val="FFFFFF"/>
                    </a:solidFill>
                  </a:tcPr>
                </a:tc>
                <a:tc>
                  <a:txBody>
                    <a:bodyPr lIns="76200" rIns="50800" tIns="25400" bIns="25400"/>
                    <a:lstStyle/>
                    <a:p>
                      <a:pPr algn="ctr"/>
                      <a:r>
                        <a:rPr sz="1150" b="0">
                          <a:solidFill>
                            <a:srgbClr val="22272E"/>
                          </a:solidFill>
                          <a:latin typeface="Calibri"/>
                        </a:rPr>
                        <a:t>4.6552</a:t>
                      </a:r>
                    </a:p>
                  </a:txBody>
                  <a:tcPr anchor="ctr">
                    <a:solidFill>
                      <a:srgbClr val="FFFFFF"/>
                    </a:solidFill>
                  </a:tcPr>
                </a:tc>
              </a:tr>
            </a:tbl>
          </a:graphicData>
        </a:graphic>
      </p:graphicFrame>
      <p:sp>
        <p:nvSpPr>
          <p:cNvPr id="16" name="Rectangle 15"/>
          <p:cNvSpPr/>
          <p:nvPr/>
        </p:nvSpPr>
        <p:spPr>
          <a:xfrm>
            <a:off x="411480" y="504190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502920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303520"/>
            <a:ext cx="4709160" cy="1188720"/>
          </a:xfrm>
          <a:prstGeom prst="rect">
            <a:avLst/>
          </a:prstGeom>
          <a:noFill/>
        </p:spPr>
        <p:txBody>
          <a:bodyPr wrap="square" anchor="t" lIns="0" rIns="0" tIns="0" bIns="0">
            <a:spAutoFit/>
          </a:bodyPr>
          <a:lstStyle/>
          <a:p>
            <a:pPr algn="l"/>
            <a:r>
              <a:rPr sz="1050" b="0" i="0">
                <a:solidFill>
                  <a:srgbClr val="22272E"/>
                </a:solidFill>
                <a:latin typeface="Calibri"/>
              </a:rPr>
              <a:t>Linear Regression produced a strongly negative R² on the held-out test set, performing far worse than simply predicting the mean flow duration. This confirms the relationship between packet volume and duration is non-linear.</a:t>
            </a:r>
          </a:p>
        </p:txBody>
      </p:sp>
      <p:pic>
        <p:nvPicPr>
          <p:cNvPr id="19" name="Picture 18" descr="cell13_Model_1_Linear_Regression_OLS_Baseline__1.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1 diagnostic suite (coefficients, predicted-vs-actual, residuals,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Ridge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2/10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Ridge regression adds an L2 penalty on coefficient magnitudes to the OLS objective, shrinking weights to reduce variance and stabilize collinear features such as header-size totals. It is still a linear model, so it can only rescale — not reshape — the OLS solution.</a:t>
            </a:r>
          </a:p>
        </p:txBody>
      </p:sp>
      <p:sp>
        <p:nvSpPr>
          <p:cNvPr id="10" name="Rectangle 9"/>
          <p:cNvSpPr/>
          <p:nvPr/>
        </p:nvSpPr>
        <p:spPr>
          <a:xfrm>
            <a:off x="411480" y="249986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48716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76148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Ridge(alpha=1.0, random_state=42) — official baseline</a:t>
            </a:r>
          </a:p>
          <a:p>
            <a:pPr algn="l">
              <a:lnSpc>
                <a:spcPct val="108000"/>
              </a:lnSpc>
              <a:spcAft>
                <a:spcPts val="300"/>
              </a:spcAft>
            </a:pPr>
            <a:r>
              <a:rPr sz="1050" b="0">
                <a:solidFill>
                  <a:srgbClr val="454F5B"/>
                </a:solidFill>
                <a:latin typeface="Calibri"/>
              </a:rPr>
              <a:t>• Alpha sensitivity checked at 0.1 / 1.0 / 10.0 via 5-fold CV (train only)</a:t>
            </a:r>
          </a:p>
          <a:p>
            <a:pPr algn="l">
              <a:lnSpc>
                <a:spcPct val="108000"/>
              </a:lnSpc>
              <a:spcAft>
                <a:spcPts val="300"/>
              </a:spcAft>
            </a:pPr>
            <a:r>
              <a:rPr sz="1050" b="0">
                <a:solidFill>
                  <a:srgbClr val="454F5B"/>
                </a:solidFill>
                <a:latin typeface="Calibri"/>
              </a:rPr>
              <a:t>• GridSearchCV(alpha=[0.1,1.0,10.0], cv=5) → best alpha=0.1 (CV R²=0.2501)</a:t>
            </a:r>
          </a:p>
          <a:p>
            <a:pPr algn="l">
              <a:lnSpc>
                <a:spcPct val="108000"/>
              </a:lnSpc>
              <a:spcAft>
                <a:spcPts val="300"/>
              </a:spcAft>
            </a:pPr>
            <a:r>
              <a:rPr sz="1050" b="0">
                <a:solidFill>
                  <a:srgbClr val="454F5B"/>
                </a:solidFill>
                <a:latin typeface="Calibri"/>
              </a:rPr>
              <a:t>• Preprocessing: OneHotEncoder + StandardScaler</a:t>
            </a:r>
          </a:p>
        </p:txBody>
      </p:sp>
      <p:sp>
        <p:nvSpPr>
          <p:cNvPr id="13" name="Rectangle 12"/>
          <p:cNvSpPr/>
          <p:nvPr/>
        </p:nvSpPr>
        <p:spPr>
          <a:xfrm>
            <a:off x="411480" y="378002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76732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4059936"/>
          <a:ext cx="4709160" cy="932688"/>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Baseline (α=1.0)</a:t>
                      </a:r>
                    </a:p>
                  </a:txBody>
                  <a:tcPr anchor="ctr">
                    <a:solidFill>
                      <a:srgbClr val="FFFFFF"/>
                    </a:solidFill>
                  </a:tcPr>
                </a:tc>
                <a:tc>
                  <a:txBody>
                    <a:bodyPr lIns="76200" rIns="50800" tIns="25400" bIns="25400"/>
                    <a:lstStyle/>
                    <a:p>
                      <a:pPr algn="ctr"/>
                      <a:r>
                        <a:rPr sz="1150" b="0">
                          <a:solidFill>
                            <a:srgbClr val="22272E"/>
                          </a:solidFill>
                          <a:latin typeface="Calibri"/>
                        </a:rPr>
                        <a:t>-4.1101</a:t>
                      </a:r>
                    </a:p>
                  </a:txBody>
                  <a:tcPr anchor="ctr">
                    <a:solidFill>
                      <a:srgbClr val="FFFFFF"/>
                    </a:solidFill>
                  </a:tcPr>
                </a:tc>
                <a:tc>
                  <a:txBody>
                    <a:bodyPr lIns="76200" rIns="50800" tIns="25400" bIns="25400"/>
                    <a:lstStyle/>
                    <a:p>
                      <a:pPr algn="ctr"/>
                      <a:r>
                        <a:rPr sz="1150" b="0">
                          <a:solidFill>
                            <a:srgbClr val="22272E"/>
                          </a:solidFill>
                          <a:latin typeface="Calibri"/>
                        </a:rPr>
                        <a:t>132.6261</a:t>
                      </a:r>
                    </a:p>
                  </a:txBody>
                  <a:tcPr anchor="ctr">
                    <a:solidFill>
                      <a:srgbClr val="FFFFFF"/>
                    </a:solidFill>
                  </a:tcPr>
                </a:tc>
                <a:tc>
                  <a:txBody>
                    <a:bodyPr lIns="76200" rIns="50800" tIns="25400" bIns="25400"/>
                    <a:lstStyle/>
                    <a:p>
                      <a:pPr algn="ctr"/>
                      <a:r>
                        <a:rPr sz="1150" b="0">
                          <a:solidFill>
                            <a:srgbClr val="22272E"/>
                          </a:solidFill>
                          <a:latin typeface="Calibri"/>
                        </a:rPr>
                        <a:t>4.6168</a:t>
                      </a:r>
                    </a:p>
                  </a:txBody>
                  <a:tcPr anchor="ctr">
                    <a:solidFill>
                      <a:srgbClr val="FFFFFF"/>
                    </a:solidFill>
                  </a:tcPr>
                </a:tc>
              </a:tr>
              <a:tr h="310896">
                <a:tc>
                  <a:txBody>
                    <a:bodyPr lIns="76200" rIns="50800" tIns="25400" bIns="25400"/>
                    <a:lstStyle/>
                    <a:p>
                      <a:pPr algn="l"/>
                      <a:r>
                        <a:rPr sz="1150" b="1">
                          <a:solidFill>
                            <a:srgbClr val="22272E"/>
                          </a:solidFill>
                          <a:latin typeface="Calibri"/>
                        </a:rPr>
                        <a:t>Tuned (α=0.1)</a:t>
                      </a:r>
                    </a:p>
                  </a:txBody>
                  <a:tcPr anchor="ctr">
                    <a:solidFill>
                      <a:srgbClr val="F4F6F8"/>
                    </a:solidFill>
                  </a:tcPr>
                </a:tc>
                <a:tc>
                  <a:txBody>
                    <a:bodyPr lIns="76200" rIns="50800" tIns="25400" bIns="25400"/>
                    <a:lstStyle/>
                    <a:p>
                      <a:pPr algn="ctr"/>
                      <a:r>
                        <a:rPr sz="1150" b="0">
                          <a:solidFill>
                            <a:srgbClr val="22272E"/>
                          </a:solidFill>
                          <a:latin typeface="Calibri"/>
                        </a:rPr>
                        <a:t>-4.3380</a:t>
                      </a:r>
                    </a:p>
                  </a:txBody>
                  <a:tcPr anchor="ctr">
                    <a:solidFill>
                      <a:srgbClr val="F4F6F8"/>
                    </a:solidFill>
                  </a:tcPr>
                </a:tc>
                <a:tc>
                  <a:txBody>
                    <a:bodyPr lIns="76200" rIns="50800" tIns="25400" bIns="25400"/>
                    <a:lstStyle/>
                    <a:p>
                      <a:pPr algn="ctr"/>
                      <a:r>
                        <a:rPr sz="1150" b="0">
                          <a:solidFill>
                            <a:srgbClr val="22272E"/>
                          </a:solidFill>
                          <a:latin typeface="Calibri"/>
                        </a:rPr>
                        <a:t>135.5515</a:t>
                      </a:r>
                    </a:p>
                  </a:txBody>
                  <a:tcPr anchor="ctr">
                    <a:solidFill>
                      <a:srgbClr val="F4F6F8"/>
                    </a:solidFill>
                  </a:tcPr>
                </a:tc>
                <a:tc>
                  <a:txBody>
                    <a:bodyPr lIns="76200" rIns="50800" tIns="25400" bIns="25400"/>
                    <a:lstStyle/>
                    <a:p>
                      <a:pPr algn="ctr"/>
                      <a:r>
                        <a:rPr sz="1150" b="0">
                          <a:solidFill>
                            <a:srgbClr val="22272E"/>
                          </a:solidFill>
                          <a:latin typeface="Calibri"/>
                        </a:rPr>
                        <a:t>4.6621</a:t>
                      </a:r>
                    </a:p>
                  </a:txBody>
                  <a:tcPr anchor="ctr">
                    <a:solidFill>
                      <a:srgbClr val="F4F6F8"/>
                    </a:solidFill>
                  </a:tcPr>
                </a:tc>
              </a:tr>
            </a:tbl>
          </a:graphicData>
        </a:graphic>
      </p:graphicFrame>
      <p:sp>
        <p:nvSpPr>
          <p:cNvPr id="16" name="Rectangle 15"/>
          <p:cNvSpPr/>
          <p:nvPr/>
        </p:nvSpPr>
        <p:spPr>
          <a:xfrm>
            <a:off x="411480" y="5169916"/>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5157216"/>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431536"/>
            <a:ext cx="4709160" cy="1188720"/>
          </a:xfrm>
          <a:prstGeom prst="rect">
            <a:avLst/>
          </a:prstGeom>
          <a:noFill/>
        </p:spPr>
        <p:txBody>
          <a:bodyPr wrap="square" anchor="t" lIns="0" rIns="0" tIns="0" bIns="0">
            <a:spAutoFit/>
          </a:bodyPr>
          <a:lstStyle/>
          <a:p>
            <a:pPr algn="l"/>
            <a:r>
              <a:rPr sz="1050" b="0" i="0">
                <a:solidFill>
                  <a:srgbClr val="22272E"/>
                </a:solidFill>
                <a:latin typeface="Calibri"/>
              </a:rPr>
              <a:t>Ridge's L2 shrinkage cut RMSE by about 4 seconds versus OLS, but R² stayed strongly negative. The formally tuned alpha (selected by 5-fold CV) actually performed worse on the held-out test set — CV improvement did not carry over.</a:t>
            </a:r>
          </a:p>
        </p:txBody>
      </p:sp>
      <p:pic>
        <p:nvPicPr>
          <p:cNvPr id="19" name="Picture 18" descr="cell16_Model_2_Ridge_Regression_L_2_Regularization__2.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2 diagnostic suite (alpha sensitivity,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Lasso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3/10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Lasso regression uses an L1 penalty that can shrink coefficients exactly to zero, performing automatic feature selection. At high regularization strength it aggressively discards features, which can also discard information the model actually needs.</a:t>
            </a:r>
          </a:p>
        </p:txBody>
      </p:sp>
      <p:sp>
        <p:nvSpPr>
          <p:cNvPr id="10" name="Rectangle 9"/>
          <p:cNvSpPr/>
          <p:nvPr/>
        </p:nvSpPr>
        <p:spPr>
          <a:xfrm>
            <a:off x="411480" y="249986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48716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76148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Lasso(alpha=1.0, max_iter=2500, random_state=42) — official baseline</a:t>
            </a:r>
          </a:p>
          <a:p>
            <a:pPr algn="l">
              <a:lnSpc>
                <a:spcPct val="108000"/>
              </a:lnSpc>
              <a:spcAft>
                <a:spcPts val="300"/>
              </a:spcAft>
            </a:pPr>
            <a:r>
              <a:rPr sz="1050" b="0">
                <a:solidFill>
                  <a:srgbClr val="454F5B"/>
                </a:solidFill>
                <a:latin typeface="Calibri"/>
              </a:rPr>
              <a:t>• Sparsity checked at alpha = 0.01 / 0.1 / 1.0 (training data only)</a:t>
            </a:r>
          </a:p>
          <a:p>
            <a:pPr algn="l">
              <a:lnSpc>
                <a:spcPct val="108000"/>
              </a:lnSpc>
              <a:spcAft>
                <a:spcPts val="300"/>
              </a:spcAft>
            </a:pPr>
            <a:r>
              <a:rPr sz="1050" b="0">
                <a:solidFill>
                  <a:srgbClr val="454F5B"/>
                </a:solidFill>
                <a:latin typeface="Calibri"/>
              </a:rPr>
              <a:t>• At alpha=1.0: 46 of 64 encoded coefficients zeroed (18 active)</a:t>
            </a:r>
          </a:p>
          <a:p>
            <a:pPr algn="l">
              <a:lnSpc>
                <a:spcPct val="108000"/>
              </a:lnSpc>
              <a:spcAft>
                <a:spcPts val="300"/>
              </a:spcAft>
            </a:pPr>
            <a:r>
              <a:rPr sz="1050" b="0">
                <a:solidFill>
                  <a:srgbClr val="454F5B"/>
                </a:solidFill>
                <a:latin typeface="Calibri"/>
              </a:rPr>
              <a:t>• Preprocessing: OneHotEncoder + StandardScaler</a:t>
            </a:r>
          </a:p>
        </p:txBody>
      </p:sp>
      <p:sp>
        <p:nvSpPr>
          <p:cNvPr id="13" name="Rectangle 12"/>
          <p:cNvSpPr/>
          <p:nvPr/>
        </p:nvSpPr>
        <p:spPr>
          <a:xfrm>
            <a:off x="411480" y="378002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76732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4059936"/>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-63.8454</a:t>
                      </a:r>
                    </a:p>
                  </a:txBody>
                  <a:tcPr anchor="ctr">
                    <a:solidFill>
                      <a:srgbClr val="FFFFFF"/>
                    </a:solidFill>
                  </a:tcPr>
                </a:tc>
                <a:tc>
                  <a:txBody>
                    <a:bodyPr lIns="76200" rIns="50800" tIns="25400" bIns="25400"/>
                    <a:lstStyle/>
                    <a:p>
                      <a:pPr algn="ctr"/>
                      <a:r>
                        <a:rPr sz="1150" b="0">
                          <a:solidFill>
                            <a:srgbClr val="22272E"/>
                          </a:solidFill>
                          <a:latin typeface="Calibri"/>
                        </a:rPr>
                        <a:t>472.4483</a:t>
                      </a:r>
                    </a:p>
                  </a:txBody>
                  <a:tcPr anchor="ctr">
                    <a:solidFill>
                      <a:srgbClr val="FFFFFF"/>
                    </a:solidFill>
                  </a:tcPr>
                </a:tc>
                <a:tc>
                  <a:txBody>
                    <a:bodyPr lIns="76200" rIns="50800" tIns="25400" bIns="25400"/>
                    <a:lstStyle/>
                    <a:p>
                      <a:pPr algn="ctr"/>
                      <a:r>
                        <a:rPr sz="1150" b="0">
                          <a:solidFill>
                            <a:srgbClr val="22272E"/>
                          </a:solidFill>
                          <a:latin typeface="Calibri"/>
                        </a:rPr>
                        <a:t>7.0382</a:t>
                      </a:r>
                    </a:p>
                  </a:txBody>
                  <a:tcPr anchor="ctr">
                    <a:solidFill>
                      <a:srgbClr val="FFFFFF"/>
                    </a:solidFill>
                  </a:tcPr>
                </a:tc>
              </a:tr>
            </a:tbl>
          </a:graphicData>
        </a:graphic>
      </p:graphicFrame>
      <p:sp>
        <p:nvSpPr>
          <p:cNvPr id="16" name="Rectangle 15"/>
          <p:cNvSpPr/>
          <p:nvPr/>
        </p:nvSpPr>
        <p:spPr>
          <a:xfrm>
            <a:off x="411480" y="48590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84632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120640"/>
            <a:ext cx="4709160" cy="1188720"/>
          </a:xfrm>
          <a:prstGeom prst="rect">
            <a:avLst/>
          </a:prstGeom>
          <a:noFill/>
        </p:spPr>
        <p:txBody>
          <a:bodyPr wrap="square" anchor="t" lIns="0" rIns="0" tIns="0" bIns="0">
            <a:spAutoFit/>
          </a:bodyPr>
          <a:lstStyle/>
          <a:p>
            <a:pPr algn="l"/>
            <a:r>
              <a:rPr sz="1050" b="0" i="0">
                <a:solidFill>
                  <a:srgbClr val="22272E"/>
                </a:solidFill>
                <a:latin typeface="Calibri"/>
              </a:rPr>
              <a:t>At alpha=1.0, Lasso zeroes out 72% of all features, discarding volumetric predictors the model needs. This produces the second-worst test R² of all ten regression baselines.</a:t>
            </a:r>
          </a:p>
        </p:txBody>
      </p:sp>
      <p:pic>
        <p:nvPicPr>
          <p:cNvPr id="19" name="Picture 18" descr="cell19_Model_3_Lasso_Regression_L_1_Regularization_Sparsity__2.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3 diagnostic suite (sparsity progression,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ElasticNet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4/10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ElasticNet linearly combines the L1 and L2 penalties, blending Lasso's feature selection with Ridge's coefficient shrinkage in a single tunable model.</a:t>
            </a:r>
          </a:p>
        </p:txBody>
      </p:sp>
      <p:sp>
        <p:nvSpPr>
          <p:cNvPr id="10" name="Rectangle 9"/>
          <p:cNvSpPr/>
          <p:nvPr/>
        </p:nvSpPr>
        <p:spPr>
          <a:xfrm>
            <a:off x="411480" y="213410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12140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39572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ElasticNet(alpha=1.0, l1_ratio=0.5, max_iter=2500, random_state=42)</a:t>
            </a:r>
          </a:p>
          <a:p>
            <a:pPr algn="l">
              <a:lnSpc>
                <a:spcPct val="108000"/>
              </a:lnSpc>
              <a:spcAft>
                <a:spcPts val="300"/>
              </a:spcAft>
            </a:pPr>
            <a:r>
              <a:rPr sz="1050" b="0">
                <a:solidFill>
                  <a:srgbClr val="454F5B"/>
                </a:solidFill>
                <a:latin typeface="Calibri"/>
              </a:rPr>
              <a:t>• Parameter behaviour explored at 3 additional (α, l1_ratio) pairs on training data</a:t>
            </a:r>
          </a:p>
          <a:p>
            <a:pPr algn="l">
              <a:lnSpc>
                <a:spcPct val="108000"/>
              </a:lnSpc>
              <a:spcAft>
                <a:spcPts val="300"/>
              </a:spcAft>
            </a:pPr>
            <a:r>
              <a:rPr sz="1050" b="0">
                <a:solidFill>
                  <a:srgbClr val="454F5B"/>
                </a:solidFill>
                <a:latin typeface="Calibri"/>
              </a:rPr>
              <a:t>• Preprocessing: OneHotEncoder + StandardScaler</a:t>
            </a:r>
          </a:p>
        </p:txBody>
      </p:sp>
      <p:sp>
        <p:nvSpPr>
          <p:cNvPr id="13" name="Rectangle 12"/>
          <p:cNvSpPr/>
          <p:nvPr/>
        </p:nvSpPr>
        <p:spPr>
          <a:xfrm>
            <a:off x="411480" y="319481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18211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474720"/>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-2.0803</a:t>
                      </a:r>
                    </a:p>
                  </a:txBody>
                  <a:tcPr anchor="ctr">
                    <a:solidFill>
                      <a:srgbClr val="FFFFFF"/>
                    </a:solidFill>
                  </a:tcPr>
                </a:tc>
                <a:tc>
                  <a:txBody>
                    <a:bodyPr lIns="76200" rIns="50800" tIns="25400" bIns="25400"/>
                    <a:lstStyle/>
                    <a:p>
                      <a:pPr algn="ctr"/>
                      <a:r>
                        <a:rPr sz="1150" b="0">
                          <a:solidFill>
                            <a:srgbClr val="22272E"/>
                          </a:solidFill>
                          <a:latin typeface="Calibri"/>
                        </a:rPr>
                        <a:t>102.9699</a:t>
                      </a:r>
                    </a:p>
                  </a:txBody>
                  <a:tcPr anchor="ctr">
                    <a:solidFill>
                      <a:srgbClr val="FFFFFF"/>
                    </a:solidFill>
                  </a:tcPr>
                </a:tc>
                <a:tc>
                  <a:txBody>
                    <a:bodyPr lIns="76200" rIns="50800" tIns="25400" bIns="25400"/>
                    <a:lstStyle/>
                    <a:p>
                      <a:pPr algn="ctr"/>
                      <a:r>
                        <a:rPr sz="1150" b="0">
                          <a:solidFill>
                            <a:srgbClr val="22272E"/>
                          </a:solidFill>
                          <a:latin typeface="Calibri"/>
                        </a:rPr>
                        <a:t>3.2478</a:t>
                      </a:r>
                    </a:p>
                  </a:txBody>
                  <a:tcPr anchor="ctr">
                    <a:solidFill>
                      <a:srgbClr val="FFFFFF"/>
                    </a:solidFill>
                  </a:tcPr>
                </a:tc>
              </a:tr>
            </a:tbl>
          </a:graphicData>
        </a:graphic>
      </p:graphicFrame>
      <p:sp>
        <p:nvSpPr>
          <p:cNvPr id="16" name="Rectangle 15"/>
          <p:cNvSpPr/>
          <p:nvPr/>
        </p:nvSpPr>
        <p:spPr>
          <a:xfrm>
            <a:off x="411480" y="4273804"/>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261104"/>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535424"/>
            <a:ext cx="4709160" cy="1188720"/>
          </a:xfrm>
          <a:prstGeom prst="rect">
            <a:avLst/>
          </a:prstGeom>
          <a:noFill/>
        </p:spPr>
        <p:txBody>
          <a:bodyPr wrap="square" anchor="t" lIns="0" rIns="0" tIns="0" bIns="0">
            <a:spAutoFit/>
          </a:bodyPr>
          <a:lstStyle/>
          <a:p>
            <a:pPr algn="l"/>
            <a:r>
              <a:rPr sz="1050" b="0" i="0">
                <a:solidFill>
                  <a:srgbClr val="22272E"/>
                </a:solidFill>
                <a:latin typeface="Calibri"/>
              </a:rPr>
              <a:t>ElasticNet is the best-performing regularized linear model, cutting test MAE to 3.25 s and outperforming OLS, Ridge, Lasso and SVR — but its test R² remains negative, since it is still fundamentally linear.</a:t>
            </a:r>
          </a:p>
        </p:txBody>
      </p:sp>
      <p:pic>
        <p:nvPicPr>
          <p:cNvPr id="19" name="Picture 18" descr="cell22_Model_4_ElasticNet_Regression_Combined_L_1_L_2_Regularizatio_2.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4 diagnostic suite (parameter grid,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Polynomial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5/10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Polynomial regression expands a compact subset of four volumetric features into quadratic interaction terms, then fits ordinary least squares on the expanded set. It is restricted to 4 features to avoid a combinatorial blow-up of the full 53-feature space.</a:t>
            </a:r>
          </a:p>
        </p:txBody>
      </p:sp>
      <p:sp>
        <p:nvSpPr>
          <p:cNvPr id="10" name="Rectangle 9"/>
          <p:cNvSpPr/>
          <p:nvPr/>
        </p:nvSpPr>
        <p:spPr>
          <a:xfrm>
            <a:off x="411480" y="249986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48716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76148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Features expanded: fwd_pkts_tot, bwd_pkts_tot, fwd_header_size_tot, bwd_header_size_tot</a:t>
            </a:r>
          </a:p>
          <a:p>
            <a:pPr algn="l">
              <a:lnSpc>
                <a:spcPct val="108000"/>
              </a:lnSpc>
              <a:spcAft>
                <a:spcPts val="300"/>
              </a:spcAft>
            </a:pPr>
            <a:r>
              <a:rPr sz="1050" b="0">
                <a:solidFill>
                  <a:srgbClr val="454F5B"/>
                </a:solidFill>
                <a:latin typeface="Calibri"/>
              </a:rPr>
              <a:t>• PolynomialFeatures(degree=2, include_bias=False) → 27 features</a:t>
            </a:r>
          </a:p>
          <a:p>
            <a:pPr algn="l">
              <a:lnSpc>
                <a:spcPct val="108000"/>
              </a:lnSpc>
              <a:spcAft>
                <a:spcPts val="300"/>
              </a:spcAft>
            </a:pPr>
            <a:r>
              <a:rPr sz="1050" b="0">
                <a:solidFill>
                  <a:srgbClr val="454F5B"/>
                </a:solidFill>
                <a:latin typeface="Calibri"/>
              </a:rPr>
              <a:t>• LinearRegression() on expanded features — Degree 2 is the official baseline</a:t>
            </a:r>
          </a:p>
          <a:p>
            <a:pPr algn="l">
              <a:lnSpc>
                <a:spcPct val="108000"/>
              </a:lnSpc>
              <a:spcAft>
                <a:spcPts val="300"/>
              </a:spcAft>
            </a:pPr>
            <a:r>
              <a:rPr sz="1050" b="0">
                <a:solidFill>
                  <a:srgbClr val="454F5B"/>
                </a:solidFill>
                <a:latin typeface="Calibri"/>
              </a:rPr>
              <a:t>• Degree 3 (47 features) explored only on training data for comparison</a:t>
            </a:r>
          </a:p>
        </p:txBody>
      </p:sp>
      <p:sp>
        <p:nvSpPr>
          <p:cNvPr id="13" name="Rectangle 12"/>
          <p:cNvSpPr/>
          <p:nvPr/>
        </p:nvSpPr>
        <p:spPr>
          <a:xfrm>
            <a:off x="411480" y="378002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76732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4059936"/>
          <a:ext cx="4709160" cy="932688"/>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Train (deg=2)</a:t>
                      </a:r>
                    </a:p>
                  </a:txBody>
                  <a:tcPr anchor="ctr">
                    <a:solidFill>
                      <a:srgbClr val="FFFFFF"/>
                    </a:solidFill>
                  </a:tcPr>
                </a:tc>
                <a:tc>
                  <a:txBody>
                    <a:bodyPr lIns="76200" rIns="50800" tIns="25400" bIns="25400"/>
                    <a:lstStyle/>
                    <a:p>
                      <a:pPr algn="ctr"/>
                      <a:r>
                        <a:rPr sz="1150" b="0">
                          <a:solidFill>
                            <a:srgbClr val="22272E"/>
                          </a:solidFill>
                          <a:latin typeface="Calibri"/>
                        </a:rPr>
                        <a:t>0.9621</a:t>
                      </a:r>
                    </a:p>
                  </a:txBody>
                  <a:tcPr anchor="ctr">
                    <a:solidFill>
                      <a:srgbClr val="FFFFFF"/>
                    </a:solidFill>
                  </a:tcPr>
                </a:tc>
                <a:tc>
                  <a:txBody>
                    <a:bodyPr lIns="76200" rIns="50800" tIns="25400" bIns="25400"/>
                    <a:lstStyle/>
                    <a:p>
                      <a:pPr algn="ctr"/>
                      <a:r>
                        <a:rPr sz="1150" b="0">
                          <a:solidFill>
                            <a:srgbClr val="22272E"/>
                          </a:solidFill>
                          <a:latin typeface="Calibri"/>
                        </a:rPr>
                        <a:t>27.06</a:t>
                      </a:r>
                    </a:p>
                  </a:txBody>
                  <a:tcPr anchor="ctr">
                    <a:solidFill>
                      <a:srgbClr val="FFFFFF"/>
                    </a:solidFill>
                  </a:tcPr>
                </a:tc>
                <a:tc>
                  <a:txBody>
                    <a:bodyPr lIns="76200" rIns="50800" tIns="25400" bIns="25400"/>
                    <a:lstStyle/>
                    <a:p>
                      <a:pPr algn="ctr"/>
                      <a:r>
                        <a:rPr sz="1150" b="0">
                          <a:solidFill>
                            <a:srgbClr val="22272E"/>
                          </a:solidFill>
                          <a:latin typeface="Calibri"/>
                        </a:rPr>
                        <a:t>—</a:t>
                      </a:r>
                    </a:p>
                  </a:txBody>
                  <a:tcPr anchor="ctr">
                    <a:solidFill>
                      <a:srgbClr val="FFFFFF"/>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4F6F8"/>
                    </a:solidFill>
                  </a:tcPr>
                </a:tc>
                <a:tc>
                  <a:txBody>
                    <a:bodyPr lIns="76200" rIns="50800" tIns="25400" bIns="25400"/>
                    <a:lstStyle/>
                    <a:p>
                      <a:pPr algn="ctr"/>
                      <a:r>
                        <a:rPr sz="1150" b="0">
                          <a:solidFill>
                            <a:srgbClr val="22272E"/>
                          </a:solidFill>
                          <a:latin typeface="Calibri"/>
                        </a:rPr>
                        <a:t>-3020.8537</a:t>
                      </a:r>
                    </a:p>
                  </a:txBody>
                  <a:tcPr anchor="ctr">
                    <a:solidFill>
                      <a:srgbClr val="F4F6F8"/>
                    </a:solidFill>
                  </a:tcPr>
                </a:tc>
                <a:tc>
                  <a:txBody>
                    <a:bodyPr lIns="76200" rIns="50800" tIns="25400" bIns="25400"/>
                    <a:lstStyle/>
                    <a:p>
                      <a:pPr algn="ctr"/>
                      <a:r>
                        <a:rPr sz="1150" b="0">
                          <a:solidFill>
                            <a:srgbClr val="22272E"/>
                          </a:solidFill>
                          <a:latin typeface="Calibri"/>
                        </a:rPr>
                        <a:t>3225.1623</a:t>
                      </a:r>
                    </a:p>
                  </a:txBody>
                  <a:tcPr anchor="ctr">
                    <a:solidFill>
                      <a:srgbClr val="F4F6F8"/>
                    </a:solidFill>
                  </a:tcPr>
                </a:tc>
                <a:tc>
                  <a:txBody>
                    <a:bodyPr lIns="76200" rIns="50800" tIns="25400" bIns="25400"/>
                    <a:lstStyle/>
                    <a:p>
                      <a:pPr algn="ctr"/>
                      <a:r>
                        <a:rPr sz="1150" b="0">
                          <a:solidFill>
                            <a:srgbClr val="22272E"/>
                          </a:solidFill>
                          <a:latin typeface="Calibri"/>
                        </a:rPr>
                        <a:t>23.5377</a:t>
                      </a:r>
                    </a:p>
                  </a:txBody>
                  <a:tcPr anchor="ctr">
                    <a:solidFill>
                      <a:srgbClr val="F4F6F8"/>
                    </a:solidFill>
                  </a:tcPr>
                </a:tc>
              </a:tr>
            </a:tbl>
          </a:graphicData>
        </a:graphic>
      </p:graphicFrame>
      <p:sp>
        <p:nvSpPr>
          <p:cNvPr id="16" name="Rectangle 15"/>
          <p:cNvSpPr/>
          <p:nvPr/>
        </p:nvSpPr>
        <p:spPr>
          <a:xfrm>
            <a:off x="411480" y="5169916"/>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5157216"/>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431536"/>
            <a:ext cx="4709160" cy="1188720"/>
          </a:xfrm>
          <a:prstGeom prst="rect">
            <a:avLst/>
          </a:prstGeom>
          <a:noFill/>
        </p:spPr>
        <p:txBody>
          <a:bodyPr wrap="square" anchor="t" lIns="0" rIns="0" tIns="0" bIns="0">
            <a:spAutoFit/>
          </a:bodyPr>
          <a:lstStyle/>
          <a:p>
            <a:pPr algn="l"/>
            <a:r>
              <a:rPr sz="1050" b="0" i="0">
                <a:solidFill>
                  <a:srgbClr val="22272E"/>
                </a:solidFill>
                <a:latin typeface="Calibri"/>
              </a:rPr>
              <a:t>Despite explaining over 96% of variance on training data, unregularized quadratic terms extrapolate catastrophically once test samples fall slightly outside the training range — the worst result of all ten regression models.</a:t>
            </a:r>
          </a:p>
        </p:txBody>
      </p:sp>
      <p:pic>
        <p:nvPicPr>
          <p:cNvPr id="19" name="Picture 18" descr="cell25_Model_5_Polynomial_Regression_Nonlinear_Feature_Interactions_1.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5 diagnostic suite (degree comparison,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09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Decision Tree Regressor</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6/10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A decision tree recursively splits the feature space into regions, predicting the mean target value within each region. It naturally captures piecewise, non-linear relationships and step-function thresholds without feature scaling.</a:t>
            </a:r>
          </a:p>
        </p:txBody>
      </p:sp>
      <p:sp>
        <p:nvSpPr>
          <p:cNvPr id="10" name="Rectangle 9"/>
          <p:cNvSpPr/>
          <p:nvPr/>
        </p:nvSpPr>
        <p:spPr>
          <a:xfrm>
            <a:off x="411480" y="231698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DecisionTreeRegressor(random_state=42) — unconstrained depth (official baseline)</a:t>
            </a:r>
          </a:p>
          <a:p>
            <a:pPr algn="l">
              <a:lnSpc>
                <a:spcPct val="108000"/>
              </a:lnSpc>
              <a:spcAft>
                <a:spcPts val="300"/>
              </a:spcAft>
            </a:pPr>
            <a:r>
              <a:rPr sz="1050" b="0">
                <a:solidFill>
                  <a:srgbClr val="454F5B"/>
                </a:solidFill>
                <a:latin typeface="Calibri"/>
              </a:rPr>
              <a:t>• max_depth ∈ {10, 20, None} explored only on training data</a:t>
            </a:r>
          </a:p>
          <a:p>
            <a:pPr algn="l">
              <a:lnSpc>
                <a:spcPct val="108000"/>
              </a:lnSpc>
              <a:spcAft>
                <a:spcPts val="300"/>
              </a:spcAft>
            </a:pPr>
            <a:r>
              <a:rPr sz="1050" b="0">
                <a:solidFill>
                  <a:srgbClr val="454F5B"/>
                </a:solidFill>
                <a:latin typeface="Calibri"/>
              </a:rPr>
              <a:t>• Preprocessing: OneHotEncoder + passthrough numerics</a:t>
            </a:r>
          </a:p>
        </p:txBody>
      </p:sp>
      <p:sp>
        <p:nvSpPr>
          <p:cNvPr id="13" name="Rectangle 12"/>
          <p:cNvSpPr/>
          <p:nvPr/>
        </p:nvSpPr>
        <p:spPr>
          <a:xfrm>
            <a:off x="411480" y="337769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36499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657600"/>
          <a:ext cx="4709160" cy="932688"/>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0.6210</a:t>
                      </a:r>
                    </a:p>
                  </a:txBody>
                  <a:tcPr anchor="ctr">
                    <a:solidFill>
                      <a:srgbClr val="FFFFFF"/>
                    </a:solidFill>
                  </a:tcPr>
                </a:tc>
                <a:tc>
                  <a:txBody>
                    <a:bodyPr lIns="76200" rIns="50800" tIns="25400" bIns="25400"/>
                    <a:lstStyle/>
                    <a:p>
                      <a:pPr algn="ctr"/>
                      <a:r>
                        <a:rPr sz="1150" b="0">
                          <a:solidFill>
                            <a:srgbClr val="22272E"/>
                          </a:solidFill>
                          <a:latin typeface="Calibri"/>
                        </a:rPr>
                        <a:t>36.1167</a:t>
                      </a:r>
                    </a:p>
                  </a:txBody>
                  <a:tcPr anchor="ctr">
                    <a:solidFill>
                      <a:srgbClr val="FFFFFF"/>
                    </a:solidFill>
                  </a:tcPr>
                </a:tc>
                <a:tc>
                  <a:txBody>
                    <a:bodyPr lIns="76200" rIns="50800" tIns="25400" bIns="25400"/>
                    <a:lstStyle/>
                    <a:p>
                      <a:pPr algn="ctr"/>
                      <a:r>
                        <a:rPr sz="1150" b="0">
                          <a:solidFill>
                            <a:srgbClr val="22272E"/>
                          </a:solidFill>
                          <a:latin typeface="Calibri"/>
                        </a:rPr>
                        <a:t>1.3245</a:t>
                      </a:r>
                    </a:p>
                  </a:txBody>
                  <a:tcPr anchor="ctr">
                    <a:solidFill>
                      <a:srgbClr val="FFFFFF"/>
                    </a:solidFill>
                  </a:tcPr>
                </a:tc>
              </a:tr>
              <a:tr h="310896">
                <a:tc>
                  <a:txBody>
                    <a:bodyPr lIns="76200" rIns="50800" tIns="25400" bIns="25400"/>
                    <a:lstStyle/>
                    <a:p>
                      <a:pPr algn="l"/>
                      <a:r>
                        <a:rPr sz="1150" b="1">
                          <a:solidFill>
                            <a:srgbClr val="22272E"/>
                          </a:solidFill>
                          <a:latin typeface="Calibri"/>
                        </a:rPr>
                        <a:t>5-Fold Stratified CV</a:t>
                      </a:r>
                    </a:p>
                  </a:txBody>
                  <a:tcPr anchor="ctr">
                    <a:solidFill>
                      <a:srgbClr val="F4F6F8"/>
                    </a:solidFill>
                  </a:tcPr>
                </a:tc>
                <a:tc>
                  <a:txBody>
                    <a:bodyPr lIns="76200" rIns="50800" tIns="25400" bIns="25400"/>
                    <a:lstStyle/>
                    <a:p>
                      <a:pPr algn="ctr"/>
                      <a:r>
                        <a:rPr sz="1150" b="0">
                          <a:solidFill>
                            <a:srgbClr val="22272E"/>
                          </a:solidFill>
                          <a:latin typeface="Calibri"/>
                        </a:rPr>
                        <a:t>0.6821 ± 0.1795</a:t>
                      </a:r>
                    </a:p>
                  </a:txBody>
                  <a:tcPr anchor="ctr">
                    <a:solidFill>
                      <a:srgbClr val="F4F6F8"/>
                    </a:solidFill>
                  </a:tcPr>
                </a:tc>
                <a:tc>
                  <a:txBody>
                    <a:bodyPr lIns="76200" rIns="50800" tIns="25400" bIns="25400"/>
                    <a:lstStyle/>
                    <a:p>
                      <a:pPr algn="ctr"/>
                      <a:r>
                        <a:rPr sz="1150" b="0">
                          <a:solidFill>
                            <a:srgbClr val="22272E"/>
                          </a:solidFill>
                          <a:latin typeface="Calibri"/>
                        </a:rPr>
                        <a:t>63.31 ± 31.96</a:t>
                      </a:r>
                    </a:p>
                  </a:txBody>
                  <a:tcPr anchor="ctr">
                    <a:solidFill>
                      <a:srgbClr val="F4F6F8"/>
                    </a:solidFill>
                  </a:tcPr>
                </a:tc>
                <a:tc>
                  <a:txBody>
                    <a:bodyPr lIns="76200" rIns="50800" tIns="25400" bIns="25400"/>
                    <a:lstStyle/>
                    <a:p>
                      <a:pPr algn="ctr"/>
                      <a:r>
                        <a:rPr sz="1150" b="0">
                          <a:solidFill>
                            <a:srgbClr val="22272E"/>
                          </a:solidFill>
                          <a:latin typeface="Calibri"/>
                        </a:rPr>
                        <a:t>1.83 ± 0.57</a:t>
                      </a:r>
                    </a:p>
                  </a:txBody>
                  <a:tcPr anchor="ctr">
                    <a:solidFill>
                      <a:srgbClr val="F4F6F8"/>
                    </a:solidFill>
                  </a:tcPr>
                </a:tc>
              </a:tr>
            </a:tbl>
          </a:graphicData>
        </a:graphic>
      </p:graphicFrame>
      <p:sp>
        <p:nvSpPr>
          <p:cNvPr id="16" name="Rectangle 15"/>
          <p:cNvSpPr/>
          <p:nvPr/>
        </p:nvSpPr>
        <p:spPr>
          <a:xfrm>
            <a:off x="411480" y="476758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75488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029200"/>
            <a:ext cx="4709160" cy="1188720"/>
          </a:xfrm>
          <a:prstGeom prst="rect">
            <a:avLst/>
          </a:prstGeom>
          <a:noFill/>
        </p:spPr>
        <p:txBody>
          <a:bodyPr wrap="square" anchor="t" lIns="0" rIns="0" tIns="0" bIns="0">
            <a:spAutoFit/>
          </a:bodyPr>
          <a:lstStyle/>
          <a:p>
            <a:pPr algn="l"/>
            <a:r>
              <a:rPr sz="1050" b="0" i="0">
                <a:solidFill>
                  <a:srgbClr val="22272E"/>
                </a:solidFill>
                <a:latin typeface="Calibri"/>
              </a:rPr>
              <a:t>Decision Tree is the top-performing model in the entire regression track — the only baseline with a strongly positive test R². Recursive partitioning matches the discrete handshake/protocol-state structure of network flows far better than any linear or margin-based model.</a:t>
            </a:r>
          </a:p>
        </p:txBody>
      </p:sp>
      <p:pic>
        <p:nvPicPr>
          <p:cNvPr id="19" name="Picture 18" descr="cell28_Model_6_Decision_Tree_Regressor_2.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6 diagnostic suite (depth exploration, feature split behaviour,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Random Forest Regressor</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7/10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Random Forest averages predictions across many decision trees, each trained on a bootstrap sample with a randomized subset of features at each split. Averaging decorrelated trees reduces variance relative to a single tree.</a:t>
            </a:r>
          </a:p>
        </p:txBody>
      </p:sp>
      <p:sp>
        <p:nvSpPr>
          <p:cNvPr id="10" name="Rectangle 9"/>
          <p:cNvSpPr/>
          <p:nvPr/>
        </p:nvSpPr>
        <p:spPr>
          <a:xfrm>
            <a:off x="411480" y="231698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Baseline: RandomForestRegressor(n_estimators=100, random_state=42)</a:t>
            </a:r>
          </a:p>
          <a:p>
            <a:pPr algn="l">
              <a:lnSpc>
                <a:spcPct val="108000"/>
              </a:lnSpc>
              <a:spcAft>
                <a:spcPts val="300"/>
              </a:spcAft>
            </a:pPr>
            <a:r>
              <a:rPr sz="1050" b="0">
                <a:solidFill>
                  <a:srgbClr val="454F5B"/>
                </a:solidFill>
                <a:latin typeface="Calibri"/>
              </a:rPr>
              <a:t>• GridSearchCV(cv=5): n_estimators ∈ {50,100}, max_depth ∈ {15,25}</a:t>
            </a:r>
          </a:p>
          <a:p>
            <a:pPr algn="l">
              <a:lnSpc>
                <a:spcPct val="108000"/>
              </a:lnSpc>
              <a:spcAft>
                <a:spcPts val="300"/>
              </a:spcAft>
            </a:pPr>
            <a:r>
              <a:rPr sz="1050" b="0">
                <a:solidFill>
                  <a:srgbClr val="454F5B"/>
                </a:solidFill>
                <a:latin typeface="Calibri"/>
              </a:rPr>
              <a:t>• Best params: max_depth=25, n_estimators=100 (best CV R² = 0.7512)</a:t>
            </a:r>
          </a:p>
        </p:txBody>
      </p:sp>
      <p:sp>
        <p:nvSpPr>
          <p:cNvPr id="13" name="Rectangle 12"/>
          <p:cNvSpPr/>
          <p:nvPr/>
        </p:nvSpPr>
        <p:spPr>
          <a:xfrm>
            <a:off x="411480" y="337769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36499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657600"/>
          <a:ext cx="4709160" cy="1243584"/>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Baseline</a:t>
                      </a:r>
                    </a:p>
                  </a:txBody>
                  <a:tcPr anchor="ctr">
                    <a:solidFill>
                      <a:srgbClr val="FFFFFF"/>
                    </a:solidFill>
                  </a:tcPr>
                </a:tc>
                <a:tc>
                  <a:txBody>
                    <a:bodyPr lIns="76200" rIns="50800" tIns="25400" bIns="25400"/>
                    <a:lstStyle/>
                    <a:p>
                      <a:pPr algn="ctr"/>
                      <a:r>
                        <a:rPr sz="1150" b="0">
                          <a:solidFill>
                            <a:srgbClr val="22272E"/>
                          </a:solidFill>
                          <a:latin typeface="Calibri"/>
                        </a:rPr>
                        <a:t>0.3383</a:t>
                      </a:r>
                    </a:p>
                  </a:txBody>
                  <a:tcPr anchor="ctr">
                    <a:solidFill>
                      <a:srgbClr val="FFFFFF"/>
                    </a:solidFill>
                  </a:tcPr>
                </a:tc>
                <a:tc>
                  <a:txBody>
                    <a:bodyPr lIns="76200" rIns="50800" tIns="25400" bIns="25400"/>
                    <a:lstStyle/>
                    <a:p>
                      <a:pPr algn="ctr"/>
                      <a:r>
                        <a:rPr sz="1150" b="0">
                          <a:solidFill>
                            <a:srgbClr val="22272E"/>
                          </a:solidFill>
                          <a:latin typeface="Calibri"/>
                        </a:rPr>
                        <a:t>47.7241</a:t>
                      </a:r>
                    </a:p>
                  </a:txBody>
                  <a:tcPr anchor="ctr">
                    <a:solidFill>
                      <a:srgbClr val="FFFFFF"/>
                    </a:solidFill>
                  </a:tcPr>
                </a:tc>
                <a:tc>
                  <a:txBody>
                    <a:bodyPr lIns="76200" rIns="50800" tIns="25400" bIns="25400"/>
                    <a:lstStyle/>
                    <a:p>
                      <a:pPr algn="ctr"/>
                      <a:r>
                        <a:rPr sz="1150" b="0">
                          <a:solidFill>
                            <a:srgbClr val="22272E"/>
                          </a:solidFill>
                          <a:latin typeface="Calibri"/>
                        </a:rPr>
                        <a:t>1.5114</a:t>
                      </a:r>
                    </a:p>
                  </a:txBody>
                  <a:tcPr anchor="ctr">
                    <a:solidFill>
                      <a:srgbClr val="FFFFFF"/>
                    </a:solidFill>
                  </a:tcPr>
                </a:tc>
              </a:tr>
              <a:tr h="310896">
                <a:tc>
                  <a:txBody>
                    <a:bodyPr lIns="76200" rIns="50800" tIns="25400" bIns="25400"/>
                    <a:lstStyle/>
                    <a:p>
                      <a:pPr algn="l"/>
                      <a:r>
                        <a:rPr sz="1150" b="1">
                          <a:solidFill>
                            <a:srgbClr val="22272E"/>
                          </a:solidFill>
                          <a:latin typeface="Calibri"/>
                        </a:rPr>
                        <a:t>Tuned</a:t>
                      </a:r>
                    </a:p>
                  </a:txBody>
                  <a:tcPr anchor="ctr">
                    <a:solidFill>
                      <a:srgbClr val="F4F6F8"/>
                    </a:solidFill>
                  </a:tcPr>
                </a:tc>
                <a:tc>
                  <a:txBody>
                    <a:bodyPr lIns="76200" rIns="50800" tIns="25400" bIns="25400"/>
                    <a:lstStyle/>
                    <a:p>
                      <a:pPr algn="ctr"/>
                      <a:r>
                        <a:rPr sz="1150" b="0">
                          <a:solidFill>
                            <a:srgbClr val="22272E"/>
                          </a:solidFill>
                          <a:latin typeface="Calibri"/>
                        </a:rPr>
                        <a:t>0.3740</a:t>
                      </a:r>
                    </a:p>
                  </a:txBody>
                  <a:tcPr anchor="ctr">
                    <a:solidFill>
                      <a:srgbClr val="F4F6F8"/>
                    </a:solidFill>
                  </a:tcPr>
                </a:tc>
                <a:tc>
                  <a:txBody>
                    <a:bodyPr lIns="76200" rIns="50800" tIns="25400" bIns="25400"/>
                    <a:lstStyle/>
                    <a:p>
                      <a:pPr algn="ctr"/>
                      <a:r>
                        <a:rPr sz="1150" b="0">
                          <a:solidFill>
                            <a:srgbClr val="22272E"/>
                          </a:solidFill>
                          <a:latin typeface="Calibri"/>
                        </a:rPr>
                        <a:t>46.4201</a:t>
                      </a:r>
                    </a:p>
                  </a:txBody>
                  <a:tcPr anchor="ctr">
                    <a:solidFill>
                      <a:srgbClr val="F4F6F8"/>
                    </a:solidFill>
                  </a:tcPr>
                </a:tc>
                <a:tc>
                  <a:txBody>
                    <a:bodyPr lIns="76200" rIns="50800" tIns="25400" bIns="25400"/>
                    <a:lstStyle/>
                    <a:p>
                      <a:pPr algn="ctr"/>
                      <a:r>
                        <a:rPr sz="1150" b="0">
                          <a:solidFill>
                            <a:srgbClr val="22272E"/>
                          </a:solidFill>
                          <a:latin typeface="Calibri"/>
                        </a:rPr>
                        <a:t>1.4726</a:t>
                      </a:r>
                    </a:p>
                  </a:txBody>
                  <a:tcPr anchor="ctr">
                    <a:solidFill>
                      <a:srgbClr val="F4F6F8"/>
                    </a:solidFill>
                  </a:tcPr>
                </a:tc>
              </a:tr>
              <a:tr h="310896">
                <a:tc>
                  <a:txBody>
                    <a:bodyPr lIns="76200" rIns="50800" tIns="25400" bIns="25400"/>
                    <a:lstStyle/>
                    <a:p>
                      <a:pPr algn="l"/>
                      <a:r>
                        <a:rPr sz="1150" b="1">
                          <a:solidFill>
                            <a:srgbClr val="22272E"/>
                          </a:solidFill>
                          <a:latin typeface="Calibri"/>
                        </a:rPr>
                        <a:t>5-Fold CV (tuned)</a:t>
                      </a:r>
                    </a:p>
                  </a:txBody>
                  <a:tcPr anchor="ctr">
                    <a:solidFill>
                      <a:srgbClr val="FFFFFF"/>
                    </a:solidFill>
                  </a:tcPr>
                </a:tc>
                <a:tc>
                  <a:txBody>
                    <a:bodyPr lIns="76200" rIns="50800" tIns="25400" bIns="25400"/>
                    <a:lstStyle/>
                    <a:p>
                      <a:pPr algn="ctr"/>
                      <a:r>
                        <a:rPr sz="1150" b="0">
                          <a:solidFill>
                            <a:srgbClr val="22272E"/>
                          </a:solidFill>
                          <a:latin typeface="Calibri"/>
                        </a:rPr>
                        <a:t>0.6506 ± 0.2206</a:t>
                      </a:r>
                    </a:p>
                  </a:txBody>
                  <a:tcPr anchor="ctr">
                    <a:solidFill>
                      <a:srgbClr val="FFFFFF"/>
                    </a:solidFill>
                  </a:tcPr>
                </a:tc>
                <a:tc>
                  <a:txBody>
                    <a:bodyPr lIns="76200" rIns="50800" tIns="25400" bIns="25400"/>
                    <a:lstStyle/>
                    <a:p>
                      <a:pPr algn="ctr"/>
                      <a:r>
                        <a:rPr sz="1150" b="0">
                          <a:solidFill>
                            <a:srgbClr val="22272E"/>
                          </a:solidFill>
                          <a:latin typeface="Calibri"/>
                        </a:rPr>
                        <a:t>67.68 ± 32.67</a:t>
                      </a:r>
                    </a:p>
                  </a:txBody>
                  <a:tcPr anchor="ctr">
                    <a:solidFill>
                      <a:srgbClr val="FFFFFF"/>
                    </a:solidFill>
                  </a:tcPr>
                </a:tc>
                <a:tc>
                  <a:txBody>
                    <a:bodyPr lIns="76200" rIns="50800" tIns="25400" bIns="25400"/>
                    <a:lstStyle/>
                    <a:p>
                      <a:pPr algn="ctr"/>
                      <a:r>
                        <a:rPr sz="1150" b="0">
                          <a:solidFill>
                            <a:srgbClr val="22272E"/>
                          </a:solidFill>
                          <a:latin typeface="Calibri"/>
                        </a:rPr>
                        <a:t>1.90 ± 0.63</a:t>
                      </a:r>
                    </a:p>
                  </a:txBody>
                  <a:tcPr anchor="ctr">
                    <a:solidFill>
                      <a:srgbClr val="FFFFFF"/>
                    </a:solidFill>
                  </a:tcPr>
                </a:tc>
              </a:tr>
            </a:tbl>
          </a:graphicData>
        </a:graphic>
      </p:graphicFrame>
      <p:sp>
        <p:nvSpPr>
          <p:cNvPr id="16" name="Rectangle 15"/>
          <p:cNvSpPr/>
          <p:nvPr/>
        </p:nvSpPr>
        <p:spPr>
          <a:xfrm>
            <a:off x="411480" y="5078476"/>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5065776"/>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5340096"/>
            <a:ext cx="4709160" cy="1188720"/>
          </a:xfrm>
          <a:prstGeom prst="rect">
            <a:avLst/>
          </a:prstGeom>
          <a:noFill/>
        </p:spPr>
        <p:txBody>
          <a:bodyPr wrap="square" anchor="t" lIns="0" rIns="0" tIns="0" bIns="0">
            <a:spAutoFit/>
          </a:bodyPr>
          <a:lstStyle/>
          <a:p>
            <a:pPr algn="l"/>
            <a:r>
              <a:rPr sz="1050" b="0" i="0">
                <a:solidFill>
                  <a:srgbClr val="22272E"/>
                </a:solidFill>
                <a:latin typeface="Calibri"/>
              </a:rPr>
              <a:t>Tuning improved test R² from 0.3383 to 0.3740, making Random Forest the top ensemble model. Leaf averaging across 100 trees still smooths out rare, extreme-duration outliers, keeping it well behind the single Decision Tree.</a:t>
            </a:r>
          </a:p>
        </p:txBody>
      </p:sp>
      <p:pic>
        <p:nvPicPr>
          <p:cNvPr id="19" name="Picture 18" descr="cell31_Model_7_Random_Forest_Regressor_Bagging_Ensemble__1.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7 diagnostic suite (feature importance,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Gradient Boosting Regressor</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8/10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Gradient Boosting builds trees sequentially: each shallow tree fits the residual errors left by the current ensemble, scaled by a learning rate, letting the model incrementally correct its own mistakes.</a:t>
            </a:r>
          </a:p>
        </p:txBody>
      </p:sp>
      <p:sp>
        <p:nvSpPr>
          <p:cNvPr id="10" name="Rectangle 9"/>
          <p:cNvSpPr/>
          <p:nvPr/>
        </p:nvSpPr>
        <p:spPr>
          <a:xfrm>
            <a:off x="411480" y="231698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Baseline: GradientBoostingRegressor(n_estimators=100, learning_rate=0.1, random_state=42)</a:t>
            </a:r>
          </a:p>
          <a:p>
            <a:pPr algn="l">
              <a:lnSpc>
                <a:spcPct val="108000"/>
              </a:lnSpc>
              <a:spcAft>
                <a:spcPts val="300"/>
              </a:spcAft>
            </a:pPr>
            <a:r>
              <a:rPr sz="1050" b="0">
                <a:solidFill>
                  <a:srgbClr val="454F5B"/>
                </a:solidFill>
                <a:latin typeface="Calibri"/>
              </a:rPr>
              <a:t>• GridSearchCV(cv=5): learning_rate ∈ {0.05, 0.1}</a:t>
            </a:r>
          </a:p>
          <a:p>
            <a:pPr algn="l">
              <a:lnSpc>
                <a:spcPct val="108000"/>
              </a:lnSpc>
              <a:spcAft>
                <a:spcPts val="300"/>
              </a:spcAft>
            </a:pPr>
            <a:r>
              <a:rPr sz="1050" b="0">
                <a:solidFill>
                  <a:srgbClr val="454F5B"/>
                </a:solidFill>
                <a:latin typeface="Calibri"/>
              </a:rPr>
              <a:t>• Best param: learning_rate=0.1 — identical to baseline (best CV R² = 0.6607)</a:t>
            </a:r>
          </a:p>
        </p:txBody>
      </p:sp>
      <p:sp>
        <p:nvSpPr>
          <p:cNvPr id="13" name="Rectangle 12"/>
          <p:cNvSpPr/>
          <p:nvPr/>
        </p:nvSpPr>
        <p:spPr>
          <a:xfrm>
            <a:off x="411480" y="337769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36499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657600"/>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Baseline / Tuned</a:t>
                      </a:r>
                    </a:p>
                  </a:txBody>
                  <a:tcPr anchor="ctr">
                    <a:solidFill>
                      <a:srgbClr val="FFFFFF"/>
                    </a:solidFill>
                  </a:tcPr>
                </a:tc>
                <a:tc>
                  <a:txBody>
                    <a:bodyPr lIns="76200" rIns="50800" tIns="25400" bIns="25400"/>
                    <a:lstStyle/>
                    <a:p>
                      <a:pPr algn="ctr"/>
                      <a:r>
                        <a:rPr sz="1150" b="0">
                          <a:solidFill>
                            <a:srgbClr val="22272E"/>
                          </a:solidFill>
                          <a:latin typeface="Calibri"/>
                        </a:rPr>
                        <a:t>-0.1466</a:t>
                      </a:r>
                    </a:p>
                  </a:txBody>
                  <a:tcPr anchor="ctr">
                    <a:solidFill>
                      <a:srgbClr val="FFFFFF"/>
                    </a:solidFill>
                  </a:tcPr>
                </a:tc>
                <a:tc>
                  <a:txBody>
                    <a:bodyPr lIns="76200" rIns="50800" tIns="25400" bIns="25400"/>
                    <a:lstStyle/>
                    <a:p>
                      <a:pPr algn="ctr"/>
                      <a:r>
                        <a:rPr sz="1150" b="0">
                          <a:solidFill>
                            <a:srgbClr val="22272E"/>
                          </a:solidFill>
                          <a:latin typeface="Calibri"/>
                        </a:rPr>
                        <a:t>62.8243</a:t>
                      </a:r>
                    </a:p>
                  </a:txBody>
                  <a:tcPr anchor="ctr">
                    <a:solidFill>
                      <a:srgbClr val="FFFFFF"/>
                    </a:solidFill>
                  </a:tcPr>
                </a:tc>
                <a:tc>
                  <a:txBody>
                    <a:bodyPr lIns="76200" rIns="50800" tIns="25400" bIns="25400"/>
                    <a:lstStyle/>
                    <a:p>
                      <a:pPr algn="ctr"/>
                      <a:r>
                        <a:rPr sz="1150" b="0">
                          <a:solidFill>
                            <a:srgbClr val="22272E"/>
                          </a:solidFill>
                          <a:latin typeface="Calibri"/>
                        </a:rPr>
                        <a:t>1.9760</a:t>
                      </a:r>
                    </a:p>
                  </a:txBody>
                  <a:tcPr anchor="ctr">
                    <a:solidFill>
                      <a:srgbClr val="FFFFFF"/>
                    </a:solidFill>
                  </a:tcPr>
                </a:tc>
              </a:tr>
            </a:tbl>
          </a:graphicData>
        </a:graphic>
      </p:graphicFrame>
      <p:sp>
        <p:nvSpPr>
          <p:cNvPr id="16" name="Rectangle 15"/>
          <p:cNvSpPr/>
          <p:nvPr/>
        </p:nvSpPr>
        <p:spPr>
          <a:xfrm>
            <a:off x="411480" y="4456684"/>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443984"/>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718304"/>
            <a:ext cx="4709160" cy="1188720"/>
          </a:xfrm>
          <a:prstGeom prst="rect">
            <a:avLst/>
          </a:prstGeom>
          <a:noFill/>
        </p:spPr>
        <p:txBody>
          <a:bodyPr wrap="square" anchor="t" lIns="0" rIns="0" tIns="0" bIns="0">
            <a:spAutoFit/>
          </a:bodyPr>
          <a:lstStyle/>
          <a:p>
            <a:pPr algn="l"/>
            <a:r>
              <a:rPr sz="1050" b="0" i="0">
                <a:solidFill>
                  <a:srgbClr val="22272E"/>
                </a:solidFill>
                <a:latin typeface="Calibri"/>
              </a:rPr>
              <a:t>Gradient Boosting reaches a strong cross-validation R² (0.6607) but a slightly negative test R² (-0.1466). Sequential fitting under squared-error loss lets early trees overcorrect on rare training outliers, hurting generalization to unseen tail events.</a:t>
            </a:r>
          </a:p>
        </p:txBody>
      </p:sp>
      <p:pic>
        <p:nvPicPr>
          <p:cNvPr id="19" name="Picture 18" descr="cell34_Model_8_Gradient_Boosting_Regressor_Boosting_Ensemble__1.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8 diagnostic suite (feature importance,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Support Vector Regressor (SVR)</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9/10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Support Vector Regression fits a linear function within an epsilon-insensitive margin, only penalizing predictions that fall outside that tube. A linear kernel was used on the complete, un-subsampled training set, since non-linear kernels scale quadratically and were computationally infeasible at this size.</a:t>
            </a:r>
          </a:p>
        </p:txBody>
      </p:sp>
      <p:sp>
        <p:nvSpPr>
          <p:cNvPr id="10" name="Rectangle 9"/>
          <p:cNvSpPr/>
          <p:nvPr/>
        </p:nvSpPr>
        <p:spPr>
          <a:xfrm>
            <a:off x="411480" y="249986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48716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76148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SVR(kernel='linear', C=1.0, max_iter=2500)</a:t>
            </a:r>
          </a:p>
          <a:p>
            <a:pPr algn="l">
              <a:lnSpc>
                <a:spcPct val="108000"/>
              </a:lnSpc>
              <a:spcAft>
                <a:spcPts val="300"/>
              </a:spcAft>
            </a:pPr>
            <a:r>
              <a:rPr sz="1050" b="0">
                <a:solidFill>
                  <a:srgbClr val="454F5B"/>
                </a:solidFill>
                <a:latin typeface="Calibri"/>
              </a:rPr>
              <a:t>• Trained on the full 94,337-row training set (no subsampling)</a:t>
            </a:r>
          </a:p>
          <a:p>
            <a:pPr algn="l">
              <a:lnSpc>
                <a:spcPct val="108000"/>
              </a:lnSpc>
              <a:spcAft>
                <a:spcPts val="300"/>
              </a:spcAft>
            </a:pPr>
            <a:r>
              <a:rPr sz="1050" b="0">
                <a:solidFill>
                  <a:srgbClr val="454F5B"/>
                </a:solidFill>
                <a:latin typeface="Calibri"/>
              </a:rPr>
              <a:t>• Preprocessing: OneHotEncoder + StandardScaler</a:t>
            </a:r>
          </a:p>
        </p:txBody>
      </p:sp>
      <p:sp>
        <p:nvSpPr>
          <p:cNvPr id="13" name="Rectangle 12"/>
          <p:cNvSpPr/>
          <p:nvPr/>
        </p:nvSpPr>
        <p:spPr>
          <a:xfrm>
            <a:off x="411480" y="356057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4787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840480"/>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-6.5904</a:t>
                      </a:r>
                    </a:p>
                  </a:txBody>
                  <a:tcPr anchor="ctr">
                    <a:solidFill>
                      <a:srgbClr val="FFFFFF"/>
                    </a:solidFill>
                  </a:tcPr>
                </a:tc>
                <a:tc>
                  <a:txBody>
                    <a:bodyPr lIns="76200" rIns="50800" tIns="25400" bIns="25400"/>
                    <a:lstStyle/>
                    <a:p>
                      <a:pPr algn="ctr"/>
                      <a:r>
                        <a:rPr sz="1150" b="0">
                          <a:solidFill>
                            <a:srgbClr val="22272E"/>
                          </a:solidFill>
                          <a:latin typeface="Calibri"/>
                        </a:rPr>
                        <a:t>161.6391</a:t>
                      </a:r>
                    </a:p>
                  </a:txBody>
                  <a:tcPr anchor="ctr">
                    <a:solidFill>
                      <a:srgbClr val="FFFFFF"/>
                    </a:solidFill>
                  </a:tcPr>
                </a:tc>
                <a:tc>
                  <a:txBody>
                    <a:bodyPr lIns="76200" rIns="50800" tIns="25400" bIns="25400"/>
                    <a:lstStyle/>
                    <a:p>
                      <a:pPr algn="ctr"/>
                      <a:r>
                        <a:rPr sz="1150" b="0">
                          <a:solidFill>
                            <a:srgbClr val="22272E"/>
                          </a:solidFill>
                          <a:latin typeface="Calibri"/>
                        </a:rPr>
                        <a:t>64.7178</a:t>
                      </a:r>
                    </a:p>
                  </a:txBody>
                  <a:tcPr anchor="ctr">
                    <a:solidFill>
                      <a:srgbClr val="FFFFFF"/>
                    </a:solidFill>
                  </a:tcPr>
                </a:tc>
              </a:tr>
            </a:tbl>
          </a:graphicData>
        </a:graphic>
      </p:graphicFrame>
      <p:sp>
        <p:nvSpPr>
          <p:cNvPr id="16" name="Rectangle 15"/>
          <p:cNvSpPr/>
          <p:nvPr/>
        </p:nvSpPr>
        <p:spPr>
          <a:xfrm>
            <a:off x="411480" y="4639564"/>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626864"/>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901184"/>
            <a:ext cx="4709160" cy="1188720"/>
          </a:xfrm>
          <a:prstGeom prst="rect">
            <a:avLst/>
          </a:prstGeom>
          <a:noFill/>
        </p:spPr>
        <p:txBody>
          <a:bodyPr wrap="square" anchor="t" lIns="0" rIns="0" tIns="0" bIns="0">
            <a:spAutoFit/>
          </a:bodyPr>
          <a:lstStyle/>
          <a:p>
            <a:pPr algn="l"/>
            <a:r>
              <a:rPr sz="1050" b="0" i="0">
                <a:solidFill>
                  <a:srgbClr val="22272E"/>
                </a:solidFill>
                <a:latin typeface="Calibri"/>
              </a:rPr>
              <a:t>Linear SVR posts the second-worst MAE (64.72 s) of any regression model. A single linear margin cannot represent both microsecond handshakes and multi-hour sessions in the same tube.</a:t>
            </a:r>
          </a:p>
        </p:txBody>
      </p:sp>
      <p:pic>
        <p:nvPicPr>
          <p:cNvPr id="19" name="Picture 18" descr="cell37_Model_9_Support_Vector_Regression_SVR_Full_Training_Data__1.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9 diagnostic suite (support vector weights,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K-Nearest Neighbors Regressor (KNN)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Regression 10/10</a:t>
            </a:r>
          </a:p>
        </p:txBody>
      </p:sp>
      <p:sp>
        <p:nvSpPr>
          <p:cNvPr id="7" name="Rectangle 6"/>
          <p:cNvSpPr/>
          <p:nvPr/>
        </p:nvSpPr>
        <p:spPr>
          <a:xfrm>
            <a:off x="411480" y="120142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K-Nearest Neighbors predicts the average target value of the k closest training points in feature space, with no explicit training phase beyond storing the data.</a:t>
            </a:r>
          </a:p>
        </p:txBody>
      </p:sp>
      <p:sp>
        <p:nvSpPr>
          <p:cNvPr id="10" name="Rectangle 9"/>
          <p:cNvSpPr/>
          <p:nvPr/>
        </p:nvSpPr>
        <p:spPr>
          <a:xfrm>
            <a:off x="411480" y="213410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12140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39572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KNeighborsRegressor(n_neighbors=5) — official baseline</a:t>
            </a:r>
          </a:p>
          <a:p>
            <a:pPr algn="l">
              <a:lnSpc>
                <a:spcPct val="108000"/>
              </a:lnSpc>
              <a:spcAft>
                <a:spcPts val="300"/>
              </a:spcAft>
            </a:pPr>
            <a:r>
              <a:rPr sz="1050" b="0">
                <a:solidFill>
                  <a:srgbClr val="454F5B"/>
                </a:solidFill>
                <a:latin typeface="Calibri"/>
              </a:rPr>
              <a:t>• Preprocessing: StandardScaler (distance-based model)</a:t>
            </a:r>
          </a:p>
          <a:p>
            <a:pPr algn="l">
              <a:lnSpc>
                <a:spcPct val="108000"/>
              </a:lnSpc>
              <a:spcAft>
                <a:spcPts val="300"/>
              </a:spcAft>
            </a:pPr>
            <a:r>
              <a:rPr sz="1050" b="0">
                <a:solidFill>
                  <a:srgbClr val="454F5B"/>
                </a:solidFill>
                <a:latin typeface="Calibri"/>
              </a:rPr>
              <a:t>• Sensitivity to k ∈ {3,5,10,20} and scaling checked on a 20% training-only split</a:t>
            </a:r>
          </a:p>
        </p:txBody>
      </p:sp>
      <p:sp>
        <p:nvSpPr>
          <p:cNvPr id="13" name="Rectangle 12"/>
          <p:cNvSpPr/>
          <p:nvPr/>
        </p:nvSpPr>
        <p:spPr>
          <a:xfrm>
            <a:off x="411480" y="3194812"/>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18211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474720"/>
          <a:ext cx="4709160" cy="621792"/>
        </p:xfrm>
        <a:graphic>
          <a:graphicData uri="http://schemas.openxmlformats.org/drawingml/2006/table">
            <a:tbl>
              <a:tblPr firstRow="1">
                <a:tableStyleId>{5C22544A-7EE6-4342-B048-85BDC9FD1C3A}</a:tableStyleId>
              </a:tblPr>
              <a:tblGrid>
                <a:gridCol w="1177290"/>
                <a:gridCol w="1177290"/>
                <a:gridCol w="1177290"/>
                <a:gridCol w="1177290"/>
              </a:tblGrid>
              <a:tr h="310896">
                <a:tc>
                  <a:txBody>
                    <a:bodyPr lIns="76200" rIns="50800" tIns="38100" bIns="38100"/>
                    <a:lstStyle/>
                    <a:p>
                      <a:pPr algn="l"/>
                      <a:r>
                        <a:rPr sz="1100" b="1">
                          <a:solidFill>
                            <a:srgbClr val="FFFFFF"/>
                          </a:solidFill>
                          <a:latin typeface="Calibri"/>
                        </a:rPr>
                        <a:t>Metric</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310896">
                <a:tc>
                  <a:txBody>
                    <a:bodyPr lIns="76200" rIns="50800" tIns="25400" bIns="25400"/>
                    <a:lstStyle/>
                    <a:p>
                      <a:pPr algn="l"/>
                      <a:r>
                        <a:rPr sz="1150" b="1">
                          <a:solidFill>
                            <a:srgbClr val="22272E"/>
                          </a:solidFill>
                          <a:latin typeface="Calibri"/>
                        </a:rPr>
                        <a:t>Test (held-out)</a:t>
                      </a:r>
                    </a:p>
                  </a:txBody>
                  <a:tcPr anchor="ctr">
                    <a:solidFill>
                      <a:srgbClr val="FFFFFF"/>
                    </a:solidFill>
                  </a:tcPr>
                </a:tc>
                <a:tc>
                  <a:txBody>
                    <a:bodyPr lIns="76200" rIns="50800" tIns="25400" bIns="25400"/>
                    <a:lstStyle/>
                    <a:p>
                      <a:pPr algn="ctr"/>
                      <a:r>
                        <a:rPr sz="1150" b="0">
                          <a:solidFill>
                            <a:srgbClr val="22272E"/>
                          </a:solidFill>
                          <a:latin typeface="Calibri"/>
                        </a:rPr>
                        <a:t>-0.0176</a:t>
                      </a:r>
                    </a:p>
                  </a:txBody>
                  <a:tcPr anchor="ctr">
                    <a:solidFill>
                      <a:srgbClr val="FFFFFF"/>
                    </a:solidFill>
                  </a:tcPr>
                </a:tc>
                <a:tc>
                  <a:txBody>
                    <a:bodyPr lIns="76200" rIns="50800" tIns="25400" bIns="25400"/>
                    <a:lstStyle/>
                    <a:p>
                      <a:pPr algn="ctr"/>
                      <a:r>
                        <a:rPr sz="1150" b="0">
                          <a:solidFill>
                            <a:srgbClr val="22272E"/>
                          </a:solidFill>
                          <a:latin typeface="Calibri"/>
                        </a:rPr>
                        <a:t>59.1827</a:t>
                      </a:r>
                    </a:p>
                  </a:txBody>
                  <a:tcPr anchor="ctr">
                    <a:solidFill>
                      <a:srgbClr val="FFFFFF"/>
                    </a:solidFill>
                  </a:tcPr>
                </a:tc>
                <a:tc>
                  <a:txBody>
                    <a:bodyPr lIns="76200" rIns="50800" tIns="25400" bIns="25400"/>
                    <a:lstStyle/>
                    <a:p>
                      <a:pPr algn="ctr"/>
                      <a:r>
                        <a:rPr sz="1150" b="0">
                          <a:solidFill>
                            <a:srgbClr val="22272E"/>
                          </a:solidFill>
                          <a:latin typeface="Calibri"/>
                        </a:rPr>
                        <a:t>1.6035</a:t>
                      </a:r>
                    </a:p>
                  </a:txBody>
                  <a:tcPr anchor="ctr">
                    <a:solidFill>
                      <a:srgbClr val="FFFFFF"/>
                    </a:solidFill>
                  </a:tcPr>
                </a:tc>
              </a:tr>
            </a:tbl>
          </a:graphicData>
        </a:graphic>
      </p:graphicFrame>
      <p:sp>
        <p:nvSpPr>
          <p:cNvPr id="16" name="Rectangle 15"/>
          <p:cNvSpPr/>
          <p:nvPr/>
        </p:nvSpPr>
        <p:spPr>
          <a:xfrm>
            <a:off x="411480" y="4273804"/>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261104"/>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535424"/>
            <a:ext cx="4709160" cy="1188720"/>
          </a:xfrm>
          <a:prstGeom prst="rect">
            <a:avLst/>
          </a:prstGeom>
          <a:noFill/>
        </p:spPr>
        <p:txBody>
          <a:bodyPr wrap="square" anchor="t" lIns="0" rIns="0" tIns="0" bIns="0">
            <a:spAutoFit/>
          </a:bodyPr>
          <a:lstStyle/>
          <a:p>
            <a:pPr algn="l"/>
            <a:r>
              <a:rPr sz="1050" b="0" i="0">
                <a:solidFill>
                  <a:srgbClr val="22272E"/>
                </a:solidFill>
                <a:latin typeface="Calibri"/>
              </a:rPr>
              <a:t>In 64-dimensional standardized space, distance concentration makes neighborhoods behave like a global average, pushing test R² near zero. Its MAE (1.60 s) stays competitive since most flows cluster around short durations.</a:t>
            </a:r>
          </a:p>
        </p:txBody>
      </p:sp>
      <p:pic>
        <p:nvPicPr>
          <p:cNvPr id="19" name="Picture 18" descr="cell40_Model_10_K_Nearest_Neighbors_Regressor_KNN__2.png"/>
          <p:cNvPicPr>
            <a:picLocks noChangeAspect="1"/>
          </p:cNvPicPr>
          <p:nvPr/>
        </p:nvPicPr>
        <p:blipFill>
          <a:blip r:embed="rId2"/>
          <a:stretch>
            <a:fillRect/>
          </a:stretch>
        </p:blipFill>
        <p:spPr>
          <a:xfrm>
            <a:off x="5440680" y="1635607"/>
            <a:ext cx="6355080" cy="4217721"/>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Model 10 diagnostic suite (k / scaling sensitivity, predicted-vs-actual, scorecard)</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REGRESSION TRACK — NETWORK FLOW DURATION PREDICTION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Final Model Comparison &amp; Ranking</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Summary</a:t>
            </a:r>
          </a:p>
        </p:txBody>
      </p:sp>
      <p:sp>
        <p:nvSpPr>
          <p:cNvPr id="7" name="Rectangle 6"/>
          <p:cNvSpPr/>
          <p:nvPr/>
        </p:nvSpPr>
        <p:spPr>
          <a:xfrm>
            <a:off x="411480" y="1219708"/>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207008"/>
            <a:ext cx="4206240" cy="256032"/>
          </a:xfrm>
          <a:prstGeom prst="rect">
            <a:avLst/>
          </a:prstGeom>
          <a:noFill/>
        </p:spPr>
        <p:txBody>
          <a:bodyPr wrap="square" anchor="t" lIns="0" rIns="0" tIns="0" bIns="0">
            <a:spAutoFit/>
          </a:bodyPr>
          <a:lstStyle/>
          <a:p>
            <a:pPr algn="l"/>
            <a:r>
              <a:rPr sz="1250" b="1" i="0">
                <a:solidFill>
                  <a:srgbClr val="1B2636"/>
                </a:solidFill>
                <a:latin typeface="Calibri"/>
              </a:rPr>
              <a:t>FINAL RANKING (HELD-OUT TEST SET)</a:t>
            </a:r>
          </a:p>
        </p:txBody>
      </p:sp>
      <p:graphicFrame>
        <p:nvGraphicFramePr>
          <p:cNvPr id="9" name="Table 8"/>
          <p:cNvGraphicFramePr>
            <a:graphicFrameLocks noGrp="1"/>
          </p:cNvGraphicFramePr>
          <p:nvPr/>
        </p:nvGraphicFramePr>
        <p:xfrm>
          <a:off x="411480" y="1517904"/>
          <a:ext cx="4709157" cy="3218688"/>
        </p:xfrm>
        <a:graphic>
          <a:graphicData uri="http://schemas.openxmlformats.org/drawingml/2006/table">
            <a:tbl>
              <a:tblPr firstRow="1">
                <a:tableStyleId>{5C22544A-7EE6-4342-B048-85BDC9FD1C3A}</a:tableStyleId>
              </a:tblPr>
              <a:tblGrid>
                <a:gridCol w="1992336"/>
                <a:gridCol w="905607"/>
                <a:gridCol w="905607"/>
                <a:gridCol w="905607"/>
              </a:tblGrid>
              <a:tr h="292608">
                <a:tc>
                  <a:txBody>
                    <a:bodyPr lIns="76200" rIns="50800" tIns="38100" bIns="38100"/>
                    <a:lstStyle/>
                    <a:p>
                      <a:pPr algn="l"/>
                      <a:r>
                        <a:rPr sz="1100" b="1">
                          <a:solidFill>
                            <a:srgbClr val="FFFFFF"/>
                          </a:solidFill>
                          <a:latin typeface="Calibri"/>
                        </a:rPr>
                        <a:t>Model</a:t>
                      </a:r>
                    </a:p>
                  </a:txBody>
                  <a:tcPr anchor="ctr">
                    <a:solidFill>
                      <a:srgbClr val="1D4E89"/>
                    </a:solidFill>
                  </a:tcPr>
                </a:tc>
                <a:tc>
                  <a:txBody>
                    <a:bodyPr lIns="76200" rIns="50800" tIns="38100" bIns="38100"/>
                    <a:lstStyle/>
                    <a:p>
                      <a:pPr algn="ctr"/>
                      <a:r>
                        <a:rPr sz="1100" b="1">
                          <a:solidFill>
                            <a:srgbClr val="FFFFFF"/>
                          </a:solidFill>
                          <a:latin typeface="Calibri"/>
                        </a:rPr>
                        <a:t>R²</a:t>
                      </a:r>
                    </a:p>
                  </a:txBody>
                  <a:tcPr anchor="ctr">
                    <a:solidFill>
                      <a:srgbClr val="1D4E89"/>
                    </a:solidFill>
                  </a:tcPr>
                </a:tc>
                <a:tc>
                  <a:txBody>
                    <a:bodyPr lIns="76200" rIns="50800" tIns="38100" bIns="38100"/>
                    <a:lstStyle/>
                    <a:p>
                      <a:pPr algn="ctr"/>
                      <a:r>
                        <a:rPr sz="1100" b="1">
                          <a:solidFill>
                            <a:srgbClr val="FFFFFF"/>
                          </a:solidFill>
                          <a:latin typeface="Calibri"/>
                        </a:rPr>
                        <a:t>RMSE (s)</a:t>
                      </a:r>
                    </a:p>
                  </a:txBody>
                  <a:tcPr anchor="ctr">
                    <a:solidFill>
                      <a:srgbClr val="1D4E89"/>
                    </a:solidFill>
                  </a:tcPr>
                </a:tc>
                <a:tc>
                  <a:txBody>
                    <a:bodyPr lIns="76200" rIns="50800" tIns="38100" bIns="38100"/>
                    <a:lstStyle/>
                    <a:p>
                      <a:pPr algn="ctr"/>
                      <a:r>
                        <a:rPr sz="1100" b="1">
                          <a:solidFill>
                            <a:srgbClr val="FFFFFF"/>
                          </a:solidFill>
                          <a:latin typeface="Calibri"/>
                        </a:rPr>
                        <a:t>MAE (s)</a:t>
                      </a:r>
                    </a:p>
                  </a:txBody>
                  <a:tcPr anchor="ctr">
                    <a:solidFill>
                      <a:srgbClr val="1D4E89"/>
                    </a:solidFill>
                  </a:tcPr>
                </a:tc>
              </a:tr>
              <a:tr h="292608">
                <a:tc>
                  <a:txBody>
                    <a:bodyPr lIns="76200" rIns="50800" tIns="25400" bIns="25400"/>
                    <a:lstStyle/>
                    <a:p>
                      <a:pPr algn="l"/>
                      <a:r>
                        <a:rPr sz="1050" b="1">
                          <a:solidFill>
                            <a:srgbClr val="22272E"/>
                          </a:solidFill>
                          <a:latin typeface="Calibri"/>
                        </a:rPr>
                        <a:t>Decision Tree</a:t>
                      </a:r>
                    </a:p>
                  </a:txBody>
                  <a:tcPr anchor="ctr">
                    <a:solidFill>
                      <a:srgbClr val="FFFFFF"/>
                    </a:solidFill>
                  </a:tcPr>
                </a:tc>
                <a:tc>
                  <a:txBody>
                    <a:bodyPr lIns="76200" rIns="50800" tIns="25400" bIns="25400"/>
                    <a:lstStyle/>
                    <a:p>
                      <a:pPr algn="ctr"/>
                      <a:r>
                        <a:rPr sz="1150" b="0">
                          <a:solidFill>
                            <a:srgbClr val="22272E"/>
                          </a:solidFill>
                          <a:latin typeface="Calibri"/>
                        </a:rPr>
                        <a:t>0.6210</a:t>
                      </a:r>
                    </a:p>
                  </a:txBody>
                  <a:tcPr anchor="ctr">
                    <a:solidFill>
                      <a:srgbClr val="FFFFFF"/>
                    </a:solidFill>
                  </a:tcPr>
                </a:tc>
                <a:tc>
                  <a:txBody>
                    <a:bodyPr lIns="76200" rIns="50800" tIns="25400" bIns="25400"/>
                    <a:lstStyle/>
                    <a:p>
                      <a:pPr algn="ctr"/>
                      <a:r>
                        <a:rPr sz="1150" b="0">
                          <a:solidFill>
                            <a:srgbClr val="22272E"/>
                          </a:solidFill>
                          <a:latin typeface="Calibri"/>
                        </a:rPr>
                        <a:t>36.12</a:t>
                      </a:r>
                    </a:p>
                  </a:txBody>
                  <a:tcPr anchor="ctr">
                    <a:solidFill>
                      <a:srgbClr val="FFFFFF"/>
                    </a:solidFill>
                  </a:tcPr>
                </a:tc>
                <a:tc>
                  <a:txBody>
                    <a:bodyPr lIns="76200" rIns="50800" tIns="25400" bIns="25400"/>
                    <a:lstStyle/>
                    <a:p>
                      <a:pPr algn="ctr"/>
                      <a:r>
                        <a:rPr sz="1150" b="0">
                          <a:solidFill>
                            <a:srgbClr val="22272E"/>
                          </a:solidFill>
                          <a:latin typeface="Calibri"/>
                        </a:rPr>
                        <a:t>1.32</a:t>
                      </a:r>
                    </a:p>
                  </a:txBody>
                  <a:tcPr anchor="ctr">
                    <a:solidFill>
                      <a:srgbClr val="FFFFFF"/>
                    </a:solidFill>
                  </a:tcPr>
                </a:tc>
              </a:tr>
              <a:tr h="292608">
                <a:tc>
                  <a:txBody>
                    <a:bodyPr lIns="76200" rIns="50800" tIns="25400" bIns="25400"/>
                    <a:lstStyle/>
                    <a:p>
                      <a:pPr algn="l"/>
                      <a:r>
                        <a:rPr sz="1050" b="1">
                          <a:solidFill>
                            <a:srgbClr val="22272E"/>
                          </a:solidFill>
                          <a:latin typeface="Calibri"/>
                        </a:rPr>
                        <a:t>Random Forest (Tuned)</a:t>
                      </a:r>
                    </a:p>
                  </a:txBody>
                  <a:tcPr anchor="ctr">
                    <a:solidFill>
                      <a:srgbClr val="F4F6F8"/>
                    </a:solidFill>
                  </a:tcPr>
                </a:tc>
                <a:tc>
                  <a:txBody>
                    <a:bodyPr lIns="76200" rIns="50800" tIns="25400" bIns="25400"/>
                    <a:lstStyle/>
                    <a:p>
                      <a:pPr algn="ctr"/>
                      <a:r>
                        <a:rPr sz="1150" b="0">
                          <a:solidFill>
                            <a:srgbClr val="22272E"/>
                          </a:solidFill>
                          <a:latin typeface="Calibri"/>
                        </a:rPr>
                        <a:t>0.3740</a:t>
                      </a:r>
                    </a:p>
                  </a:txBody>
                  <a:tcPr anchor="ctr">
                    <a:solidFill>
                      <a:srgbClr val="F4F6F8"/>
                    </a:solidFill>
                  </a:tcPr>
                </a:tc>
                <a:tc>
                  <a:txBody>
                    <a:bodyPr lIns="76200" rIns="50800" tIns="25400" bIns="25400"/>
                    <a:lstStyle/>
                    <a:p>
                      <a:pPr algn="ctr"/>
                      <a:r>
                        <a:rPr sz="1150" b="0">
                          <a:solidFill>
                            <a:srgbClr val="22272E"/>
                          </a:solidFill>
                          <a:latin typeface="Calibri"/>
                        </a:rPr>
                        <a:t>46.42</a:t>
                      </a:r>
                    </a:p>
                  </a:txBody>
                  <a:tcPr anchor="ctr">
                    <a:solidFill>
                      <a:srgbClr val="F4F6F8"/>
                    </a:solidFill>
                  </a:tcPr>
                </a:tc>
                <a:tc>
                  <a:txBody>
                    <a:bodyPr lIns="76200" rIns="50800" tIns="25400" bIns="25400"/>
                    <a:lstStyle/>
                    <a:p>
                      <a:pPr algn="ctr"/>
                      <a:r>
                        <a:rPr sz="1150" b="0">
                          <a:solidFill>
                            <a:srgbClr val="22272E"/>
                          </a:solidFill>
                          <a:latin typeface="Calibri"/>
                        </a:rPr>
                        <a:t>1.47</a:t>
                      </a:r>
                    </a:p>
                  </a:txBody>
                  <a:tcPr anchor="ctr">
                    <a:solidFill>
                      <a:srgbClr val="F4F6F8"/>
                    </a:solidFill>
                  </a:tcPr>
                </a:tc>
              </a:tr>
              <a:tr h="292608">
                <a:tc>
                  <a:txBody>
                    <a:bodyPr lIns="76200" rIns="50800" tIns="25400" bIns="25400"/>
                    <a:lstStyle/>
                    <a:p>
                      <a:pPr algn="l"/>
                      <a:r>
                        <a:rPr sz="1050" b="1">
                          <a:solidFill>
                            <a:srgbClr val="22272E"/>
                          </a:solidFill>
                          <a:latin typeface="Calibri"/>
                        </a:rPr>
                        <a:t>KNN (k=5, scaled)</a:t>
                      </a:r>
                    </a:p>
                  </a:txBody>
                  <a:tcPr anchor="ctr">
                    <a:solidFill>
                      <a:srgbClr val="FFFFFF"/>
                    </a:solidFill>
                  </a:tcPr>
                </a:tc>
                <a:tc>
                  <a:txBody>
                    <a:bodyPr lIns="76200" rIns="50800" tIns="25400" bIns="25400"/>
                    <a:lstStyle/>
                    <a:p>
                      <a:pPr algn="ctr"/>
                      <a:r>
                        <a:rPr sz="1150" b="0">
                          <a:solidFill>
                            <a:srgbClr val="22272E"/>
                          </a:solidFill>
                          <a:latin typeface="Calibri"/>
                        </a:rPr>
                        <a:t>-0.0176</a:t>
                      </a:r>
                    </a:p>
                  </a:txBody>
                  <a:tcPr anchor="ctr">
                    <a:solidFill>
                      <a:srgbClr val="FFFFFF"/>
                    </a:solidFill>
                  </a:tcPr>
                </a:tc>
                <a:tc>
                  <a:txBody>
                    <a:bodyPr lIns="76200" rIns="50800" tIns="25400" bIns="25400"/>
                    <a:lstStyle/>
                    <a:p>
                      <a:pPr algn="ctr"/>
                      <a:r>
                        <a:rPr sz="1150" b="0">
                          <a:solidFill>
                            <a:srgbClr val="22272E"/>
                          </a:solidFill>
                          <a:latin typeface="Calibri"/>
                        </a:rPr>
                        <a:t>59.18</a:t>
                      </a:r>
                    </a:p>
                  </a:txBody>
                  <a:tcPr anchor="ctr">
                    <a:solidFill>
                      <a:srgbClr val="FFFFFF"/>
                    </a:solidFill>
                  </a:tcPr>
                </a:tc>
                <a:tc>
                  <a:txBody>
                    <a:bodyPr lIns="76200" rIns="50800" tIns="25400" bIns="25400"/>
                    <a:lstStyle/>
                    <a:p>
                      <a:pPr algn="ctr"/>
                      <a:r>
                        <a:rPr sz="1150" b="0">
                          <a:solidFill>
                            <a:srgbClr val="22272E"/>
                          </a:solidFill>
                          <a:latin typeface="Calibri"/>
                        </a:rPr>
                        <a:t>1.60</a:t>
                      </a:r>
                    </a:p>
                  </a:txBody>
                  <a:tcPr anchor="ctr">
                    <a:solidFill>
                      <a:srgbClr val="FFFFFF"/>
                    </a:solidFill>
                  </a:tcPr>
                </a:tc>
              </a:tr>
              <a:tr h="292608">
                <a:tc>
                  <a:txBody>
                    <a:bodyPr lIns="76200" rIns="50800" tIns="25400" bIns="25400"/>
                    <a:lstStyle/>
                    <a:p>
                      <a:pPr algn="l"/>
                      <a:r>
                        <a:rPr sz="1050" b="1">
                          <a:solidFill>
                            <a:srgbClr val="22272E"/>
                          </a:solidFill>
                          <a:latin typeface="Calibri"/>
                        </a:rPr>
                        <a:t>Gradient Boosting (Tuned)</a:t>
                      </a:r>
                    </a:p>
                  </a:txBody>
                  <a:tcPr anchor="ctr">
                    <a:solidFill>
                      <a:srgbClr val="F4F6F8"/>
                    </a:solidFill>
                  </a:tcPr>
                </a:tc>
                <a:tc>
                  <a:txBody>
                    <a:bodyPr lIns="76200" rIns="50800" tIns="25400" bIns="25400"/>
                    <a:lstStyle/>
                    <a:p>
                      <a:pPr algn="ctr"/>
                      <a:r>
                        <a:rPr sz="1150" b="0">
                          <a:solidFill>
                            <a:srgbClr val="22272E"/>
                          </a:solidFill>
                          <a:latin typeface="Calibri"/>
                        </a:rPr>
                        <a:t>-0.1466</a:t>
                      </a:r>
                    </a:p>
                  </a:txBody>
                  <a:tcPr anchor="ctr">
                    <a:solidFill>
                      <a:srgbClr val="F4F6F8"/>
                    </a:solidFill>
                  </a:tcPr>
                </a:tc>
                <a:tc>
                  <a:txBody>
                    <a:bodyPr lIns="76200" rIns="50800" tIns="25400" bIns="25400"/>
                    <a:lstStyle/>
                    <a:p>
                      <a:pPr algn="ctr"/>
                      <a:r>
                        <a:rPr sz="1150" b="0">
                          <a:solidFill>
                            <a:srgbClr val="22272E"/>
                          </a:solidFill>
                          <a:latin typeface="Calibri"/>
                        </a:rPr>
                        <a:t>62.82</a:t>
                      </a:r>
                    </a:p>
                  </a:txBody>
                  <a:tcPr anchor="ctr">
                    <a:solidFill>
                      <a:srgbClr val="F4F6F8"/>
                    </a:solidFill>
                  </a:tcPr>
                </a:tc>
                <a:tc>
                  <a:txBody>
                    <a:bodyPr lIns="76200" rIns="50800" tIns="25400" bIns="25400"/>
                    <a:lstStyle/>
                    <a:p>
                      <a:pPr algn="ctr"/>
                      <a:r>
                        <a:rPr sz="1150" b="0">
                          <a:solidFill>
                            <a:srgbClr val="22272E"/>
                          </a:solidFill>
                          <a:latin typeface="Calibri"/>
                        </a:rPr>
                        <a:t>1.98</a:t>
                      </a:r>
                    </a:p>
                  </a:txBody>
                  <a:tcPr anchor="ctr">
                    <a:solidFill>
                      <a:srgbClr val="F4F6F8"/>
                    </a:solidFill>
                  </a:tcPr>
                </a:tc>
              </a:tr>
              <a:tr h="292608">
                <a:tc>
                  <a:txBody>
                    <a:bodyPr lIns="76200" rIns="50800" tIns="25400" bIns="25400"/>
                    <a:lstStyle/>
                    <a:p>
                      <a:pPr algn="l"/>
                      <a:r>
                        <a:rPr sz="1050" b="1">
                          <a:solidFill>
                            <a:srgbClr val="22272E"/>
                          </a:solidFill>
                          <a:latin typeface="Calibri"/>
                        </a:rPr>
                        <a:t>ElasticNet</a:t>
                      </a:r>
                    </a:p>
                  </a:txBody>
                  <a:tcPr anchor="ctr">
                    <a:solidFill>
                      <a:srgbClr val="FFFFFF"/>
                    </a:solidFill>
                  </a:tcPr>
                </a:tc>
                <a:tc>
                  <a:txBody>
                    <a:bodyPr lIns="76200" rIns="50800" tIns="25400" bIns="25400"/>
                    <a:lstStyle/>
                    <a:p>
                      <a:pPr algn="ctr"/>
                      <a:r>
                        <a:rPr sz="1150" b="0">
                          <a:solidFill>
                            <a:srgbClr val="22272E"/>
                          </a:solidFill>
                          <a:latin typeface="Calibri"/>
                        </a:rPr>
                        <a:t>-2.0803</a:t>
                      </a:r>
                    </a:p>
                  </a:txBody>
                  <a:tcPr anchor="ctr">
                    <a:solidFill>
                      <a:srgbClr val="FFFFFF"/>
                    </a:solidFill>
                  </a:tcPr>
                </a:tc>
                <a:tc>
                  <a:txBody>
                    <a:bodyPr lIns="76200" rIns="50800" tIns="25400" bIns="25400"/>
                    <a:lstStyle/>
                    <a:p>
                      <a:pPr algn="ctr"/>
                      <a:r>
                        <a:rPr sz="1150" b="0">
                          <a:solidFill>
                            <a:srgbClr val="22272E"/>
                          </a:solidFill>
                          <a:latin typeface="Calibri"/>
                        </a:rPr>
                        <a:t>102.97</a:t>
                      </a:r>
                    </a:p>
                  </a:txBody>
                  <a:tcPr anchor="ctr">
                    <a:solidFill>
                      <a:srgbClr val="FFFFFF"/>
                    </a:solidFill>
                  </a:tcPr>
                </a:tc>
                <a:tc>
                  <a:txBody>
                    <a:bodyPr lIns="76200" rIns="50800" tIns="25400" bIns="25400"/>
                    <a:lstStyle/>
                    <a:p>
                      <a:pPr algn="ctr"/>
                      <a:r>
                        <a:rPr sz="1150" b="0">
                          <a:solidFill>
                            <a:srgbClr val="22272E"/>
                          </a:solidFill>
                          <a:latin typeface="Calibri"/>
                        </a:rPr>
                        <a:t>3.25</a:t>
                      </a:r>
                    </a:p>
                  </a:txBody>
                  <a:tcPr anchor="ctr">
                    <a:solidFill>
                      <a:srgbClr val="FFFFFF"/>
                    </a:solidFill>
                  </a:tcPr>
                </a:tc>
              </a:tr>
              <a:tr h="292608">
                <a:tc>
                  <a:txBody>
                    <a:bodyPr lIns="76200" rIns="50800" tIns="25400" bIns="25400"/>
                    <a:lstStyle/>
                    <a:p>
                      <a:pPr algn="l"/>
                      <a:r>
                        <a:rPr sz="1050" b="1">
                          <a:solidFill>
                            <a:srgbClr val="22272E"/>
                          </a:solidFill>
                          <a:latin typeface="Calibri"/>
                        </a:rPr>
                        <a:t>Ridge (Tuned)</a:t>
                      </a:r>
                    </a:p>
                  </a:txBody>
                  <a:tcPr anchor="ctr">
                    <a:solidFill>
                      <a:srgbClr val="F4F6F8"/>
                    </a:solidFill>
                  </a:tcPr>
                </a:tc>
                <a:tc>
                  <a:txBody>
                    <a:bodyPr lIns="76200" rIns="50800" tIns="25400" bIns="25400"/>
                    <a:lstStyle/>
                    <a:p>
                      <a:pPr algn="ctr"/>
                      <a:r>
                        <a:rPr sz="1150" b="0">
                          <a:solidFill>
                            <a:srgbClr val="22272E"/>
                          </a:solidFill>
                          <a:latin typeface="Calibri"/>
                        </a:rPr>
                        <a:t>-4.3380</a:t>
                      </a:r>
                    </a:p>
                  </a:txBody>
                  <a:tcPr anchor="ctr">
                    <a:solidFill>
                      <a:srgbClr val="F4F6F8"/>
                    </a:solidFill>
                  </a:tcPr>
                </a:tc>
                <a:tc>
                  <a:txBody>
                    <a:bodyPr lIns="76200" rIns="50800" tIns="25400" bIns="25400"/>
                    <a:lstStyle/>
                    <a:p>
                      <a:pPr algn="ctr"/>
                      <a:r>
                        <a:rPr sz="1150" b="0">
                          <a:solidFill>
                            <a:srgbClr val="22272E"/>
                          </a:solidFill>
                          <a:latin typeface="Calibri"/>
                        </a:rPr>
                        <a:t>135.55</a:t>
                      </a:r>
                    </a:p>
                  </a:txBody>
                  <a:tcPr anchor="ctr">
                    <a:solidFill>
                      <a:srgbClr val="F4F6F8"/>
                    </a:solidFill>
                  </a:tcPr>
                </a:tc>
                <a:tc>
                  <a:txBody>
                    <a:bodyPr lIns="76200" rIns="50800" tIns="25400" bIns="25400"/>
                    <a:lstStyle/>
                    <a:p>
                      <a:pPr algn="ctr"/>
                      <a:r>
                        <a:rPr sz="1150" b="0">
                          <a:solidFill>
                            <a:srgbClr val="22272E"/>
                          </a:solidFill>
                          <a:latin typeface="Calibri"/>
                        </a:rPr>
                        <a:t>4.66</a:t>
                      </a:r>
                    </a:p>
                  </a:txBody>
                  <a:tcPr anchor="ctr">
                    <a:solidFill>
                      <a:srgbClr val="F4F6F8"/>
                    </a:solidFill>
                  </a:tcPr>
                </a:tc>
              </a:tr>
              <a:tr h="292608">
                <a:tc>
                  <a:txBody>
                    <a:bodyPr lIns="76200" rIns="50800" tIns="25400" bIns="25400"/>
                    <a:lstStyle/>
                    <a:p>
                      <a:pPr algn="l"/>
                      <a:r>
                        <a:rPr sz="1050" b="1">
                          <a:solidFill>
                            <a:srgbClr val="22272E"/>
                          </a:solidFill>
                          <a:latin typeface="Calibri"/>
                        </a:rPr>
                        <a:t>Linear Regression (OLS)</a:t>
                      </a:r>
                    </a:p>
                  </a:txBody>
                  <a:tcPr anchor="ctr">
                    <a:solidFill>
                      <a:srgbClr val="FFFFFF"/>
                    </a:solidFill>
                  </a:tcPr>
                </a:tc>
                <a:tc>
                  <a:txBody>
                    <a:bodyPr lIns="76200" rIns="50800" tIns="25400" bIns="25400"/>
                    <a:lstStyle/>
                    <a:p>
                      <a:pPr algn="ctr"/>
                      <a:r>
                        <a:rPr sz="1150" b="0">
                          <a:solidFill>
                            <a:srgbClr val="22272E"/>
                          </a:solidFill>
                          <a:latin typeface="Calibri"/>
                        </a:rPr>
                        <a:t>-4.4362</a:t>
                      </a:r>
                    </a:p>
                  </a:txBody>
                  <a:tcPr anchor="ctr">
                    <a:solidFill>
                      <a:srgbClr val="FFFFFF"/>
                    </a:solidFill>
                  </a:tcPr>
                </a:tc>
                <a:tc>
                  <a:txBody>
                    <a:bodyPr lIns="76200" rIns="50800" tIns="25400" bIns="25400"/>
                    <a:lstStyle/>
                    <a:p>
                      <a:pPr algn="ctr"/>
                      <a:r>
                        <a:rPr sz="1150" b="0">
                          <a:solidFill>
                            <a:srgbClr val="22272E"/>
                          </a:solidFill>
                          <a:latin typeface="Calibri"/>
                        </a:rPr>
                        <a:t>136.79</a:t>
                      </a:r>
                    </a:p>
                  </a:txBody>
                  <a:tcPr anchor="ctr">
                    <a:solidFill>
                      <a:srgbClr val="FFFFFF"/>
                    </a:solidFill>
                  </a:tcPr>
                </a:tc>
                <a:tc>
                  <a:txBody>
                    <a:bodyPr lIns="76200" rIns="50800" tIns="25400" bIns="25400"/>
                    <a:lstStyle/>
                    <a:p>
                      <a:pPr algn="ctr"/>
                      <a:r>
                        <a:rPr sz="1150" b="0">
                          <a:solidFill>
                            <a:srgbClr val="22272E"/>
                          </a:solidFill>
                          <a:latin typeface="Calibri"/>
                        </a:rPr>
                        <a:t>4.66</a:t>
                      </a:r>
                    </a:p>
                  </a:txBody>
                  <a:tcPr anchor="ctr">
                    <a:solidFill>
                      <a:srgbClr val="FFFFFF"/>
                    </a:solidFill>
                  </a:tcPr>
                </a:tc>
              </a:tr>
              <a:tr h="292608">
                <a:tc>
                  <a:txBody>
                    <a:bodyPr lIns="76200" rIns="50800" tIns="25400" bIns="25400"/>
                    <a:lstStyle/>
                    <a:p>
                      <a:pPr algn="l"/>
                      <a:r>
                        <a:rPr sz="1050" b="1">
                          <a:solidFill>
                            <a:srgbClr val="22272E"/>
                          </a:solidFill>
                          <a:latin typeface="Calibri"/>
                        </a:rPr>
                        <a:t>SVR (linear)</a:t>
                      </a:r>
                    </a:p>
                  </a:txBody>
                  <a:tcPr anchor="ctr">
                    <a:solidFill>
                      <a:srgbClr val="F4F6F8"/>
                    </a:solidFill>
                  </a:tcPr>
                </a:tc>
                <a:tc>
                  <a:txBody>
                    <a:bodyPr lIns="76200" rIns="50800" tIns="25400" bIns="25400"/>
                    <a:lstStyle/>
                    <a:p>
                      <a:pPr algn="ctr"/>
                      <a:r>
                        <a:rPr sz="1150" b="0">
                          <a:solidFill>
                            <a:srgbClr val="22272E"/>
                          </a:solidFill>
                          <a:latin typeface="Calibri"/>
                        </a:rPr>
                        <a:t>-6.5904</a:t>
                      </a:r>
                    </a:p>
                  </a:txBody>
                  <a:tcPr anchor="ctr">
                    <a:solidFill>
                      <a:srgbClr val="F4F6F8"/>
                    </a:solidFill>
                  </a:tcPr>
                </a:tc>
                <a:tc>
                  <a:txBody>
                    <a:bodyPr lIns="76200" rIns="50800" tIns="25400" bIns="25400"/>
                    <a:lstStyle/>
                    <a:p>
                      <a:pPr algn="ctr"/>
                      <a:r>
                        <a:rPr sz="1150" b="0">
                          <a:solidFill>
                            <a:srgbClr val="22272E"/>
                          </a:solidFill>
                          <a:latin typeface="Calibri"/>
                        </a:rPr>
                        <a:t>161.64</a:t>
                      </a:r>
                    </a:p>
                  </a:txBody>
                  <a:tcPr anchor="ctr">
                    <a:solidFill>
                      <a:srgbClr val="F4F6F8"/>
                    </a:solidFill>
                  </a:tcPr>
                </a:tc>
                <a:tc>
                  <a:txBody>
                    <a:bodyPr lIns="76200" rIns="50800" tIns="25400" bIns="25400"/>
                    <a:lstStyle/>
                    <a:p>
                      <a:pPr algn="ctr"/>
                      <a:r>
                        <a:rPr sz="1150" b="0">
                          <a:solidFill>
                            <a:srgbClr val="22272E"/>
                          </a:solidFill>
                          <a:latin typeface="Calibri"/>
                        </a:rPr>
                        <a:t>64.72</a:t>
                      </a:r>
                    </a:p>
                  </a:txBody>
                  <a:tcPr anchor="ctr">
                    <a:solidFill>
                      <a:srgbClr val="F4F6F8"/>
                    </a:solidFill>
                  </a:tcPr>
                </a:tc>
              </a:tr>
              <a:tr h="292608">
                <a:tc>
                  <a:txBody>
                    <a:bodyPr lIns="76200" rIns="50800" tIns="25400" bIns="25400"/>
                    <a:lstStyle/>
                    <a:p>
                      <a:pPr algn="l"/>
                      <a:r>
                        <a:rPr sz="1050" b="1">
                          <a:solidFill>
                            <a:srgbClr val="22272E"/>
                          </a:solidFill>
                          <a:latin typeface="Calibri"/>
                        </a:rPr>
                        <a:t>Lasso</a:t>
                      </a:r>
                    </a:p>
                  </a:txBody>
                  <a:tcPr anchor="ctr">
                    <a:solidFill>
                      <a:srgbClr val="FFFFFF"/>
                    </a:solidFill>
                  </a:tcPr>
                </a:tc>
                <a:tc>
                  <a:txBody>
                    <a:bodyPr lIns="76200" rIns="50800" tIns="25400" bIns="25400"/>
                    <a:lstStyle/>
                    <a:p>
                      <a:pPr algn="ctr"/>
                      <a:r>
                        <a:rPr sz="1150" b="0">
                          <a:solidFill>
                            <a:srgbClr val="22272E"/>
                          </a:solidFill>
                          <a:latin typeface="Calibri"/>
                        </a:rPr>
                        <a:t>-63.8454</a:t>
                      </a:r>
                    </a:p>
                  </a:txBody>
                  <a:tcPr anchor="ctr">
                    <a:solidFill>
                      <a:srgbClr val="FFFFFF"/>
                    </a:solidFill>
                  </a:tcPr>
                </a:tc>
                <a:tc>
                  <a:txBody>
                    <a:bodyPr lIns="76200" rIns="50800" tIns="25400" bIns="25400"/>
                    <a:lstStyle/>
                    <a:p>
                      <a:pPr algn="ctr"/>
                      <a:r>
                        <a:rPr sz="1150" b="0">
                          <a:solidFill>
                            <a:srgbClr val="22272E"/>
                          </a:solidFill>
                          <a:latin typeface="Calibri"/>
                        </a:rPr>
                        <a:t>472.45</a:t>
                      </a:r>
                    </a:p>
                  </a:txBody>
                  <a:tcPr anchor="ctr">
                    <a:solidFill>
                      <a:srgbClr val="FFFFFF"/>
                    </a:solidFill>
                  </a:tcPr>
                </a:tc>
                <a:tc>
                  <a:txBody>
                    <a:bodyPr lIns="76200" rIns="50800" tIns="25400" bIns="25400"/>
                    <a:lstStyle/>
                    <a:p>
                      <a:pPr algn="ctr"/>
                      <a:r>
                        <a:rPr sz="1150" b="0">
                          <a:solidFill>
                            <a:srgbClr val="22272E"/>
                          </a:solidFill>
                          <a:latin typeface="Calibri"/>
                        </a:rPr>
                        <a:t>7.04</a:t>
                      </a:r>
                    </a:p>
                  </a:txBody>
                  <a:tcPr anchor="ctr">
                    <a:solidFill>
                      <a:srgbClr val="FFFFFF"/>
                    </a:solidFill>
                  </a:tcPr>
                </a:tc>
              </a:tr>
              <a:tr h="292608">
                <a:tc>
                  <a:txBody>
                    <a:bodyPr lIns="76200" rIns="50800" tIns="25400" bIns="25400"/>
                    <a:lstStyle/>
                    <a:p>
                      <a:pPr algn="l"/>
                      <a:r>
                        <a:rPr sz="1050" b="1">
                          <a:solidFill>
                            <a:srgbClr val="22272E"/>
                          </a:solidFill>
                          <a:latin typeface="Calibri"/>
                        </a:rPr>
                        <a:t>Polynomial (deg=2)</a:t>
                      </a:r>
                    </a:p>
                  </a:txBody>
                  <a:tcPr anchor="ctr">
                    <a:solidFill>
                      <a:srgbClr val="F4F6F8"/>
                    </a:solidFill>
                  </a:tcPr>
                </a:tc>
                <a:tc>
                  <a:txBody>
                    <a:bodyPr lIns="76200" rIns="50800" tIns="25400" bIns="25400"/>
                    <a:lstStyle/>
                    <a:p>
                      <a:pPr algn="ctr"/>
                      <a:r>
                        <a:rPr sz="1150" b="0">
                          <a:solidFill>
                            <a:srgbClr val="22272E"/>
                          </a:solidFill>
                          <a:latin typeface="Calibri"/>
                        </a:rPr>
                        <a:t>-3020.85</a:t>
                      </a:r>
                    </a:p>
                  </a:txBody>
                  <a:tcPr anchor="ctr">
                    <a:solidFill>
                      <a:srgbClr val="F4F6F8"/>
                    </a:solidFill>
                  </a:tcPr>
                </a:tc>
                <a:tc>
                  <a:txBody>
                    <a:bodyPr lIns="76200" rIns="50800" tIns="25400" bIns="25400"/>
                    <a:lstStyle/>
                    <a:p>
                      <a:pPr algn="ctr"/>
                      <a:r>
                        <a:rPr sz="1150" b="0">
                          <a:solidFill>
                            <a:srgbClr val="22272E"/>
                          </a:solidFill>
                          <a:latin typeface="Calibri"/>
                        </a:rPr>
                        <a:t>3225.16</a:t>
                      </a:r>
                    </a:p>
                  </a:txBody>
                  <a:tcPr anchor="ctr">
                    <a:solidFill>
                      <a:srgbClr val="F4F6F8"/>
                    </a:solidFill>
                  </a:tcPr>
                </a:tc>
                <a:tc>
                  <a:txBody>
                    <a:bodyPr lIns="76200" rIns="50800" tIns="25400" bIns="25400"/>
                    <a:lstStyle/>
                    <a:p>
                      <a:pPr algn="ctr"/>
                      <a:r>
                        <a:rPr sz="1150" b="0">
                          <a:solidFill>
                            <a:srgbClr val="22272E"/>
                          </a:solidFill>
                          <a:latin typeface="Calibri"/>
                        </a:rPr>
                        <a:t>23.54</a:t>
                      </a:r>
                    </a:p>
                  </a:txBody>
                  <a:tcPr anchor="ctr">
                    <a:solidFill>
                      <a:srgbClr val="F4F6F8"/>
                    </a:solidFill>
                  </a:tcPr>
                </a:tc>
              </a:tr>
            </a:tbl>
          </a:graphicData>
        </a:graphic>
      </p:graphicFrame>
      <p:sp>
        <p:nvSpPr>
          <p:cNvPr id="10" name="Rectangle 9"/>
          <p:cNvSpPr/>
          <p:nvPr/>
        </p:nvSpPr>
        <p:spPr>
          <a:xfrm>
            <a:off x="411480" y="4950460"/>
            <a:ext cx="82296" cy="14630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493776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2" name="TextBox 11"/>
          <p:cNvSpPr txBox="1"/>
          <p:nvPr/>
        </p:nvSpPr>
        <p:spPr>
          <a:xfrm>
            <a:off x="411480" y="5212080"/>
            <a:ext cx="4709160" cy="1828800"/>
          </a:xfrm>
          <a:prstGeom prst="rect">
            <a:avLst/>
          </a:prstGeom>
          <a:noFill/>
        </p:spPr>
        <p:txBody>
          <a:bodyPr wrap="square" anchor="t" lIns="0" rIns="0" tIns="0" bIns="0">
            <a:spAutoFit/>
          </a:bodyPr>
          <a:lstStyle/>
          <a:p>
            <a:pPr algn="l"/>
            <a:r>
              <a:rPr sz="1080" b="0" i="0">
                <a:solidFill>
                  <a:srgbClr val="22272E"/>
                </a:solidFill>
                <a:latin typeface="Calibri"/>
              </a:rPr>
              <a:t>Decision Tree is the definitive top performer across the full regression benchmark — the only model with a strongly positive held-out R². Tuning meaningfully improved Random Forest (+0.0357 R²) but did not close the gap with the single tree. Formal cross-validated tuning did not help every model: tuned Ridge (α=0.1) actually underperforms its untuned baseline (α=1.0) on this held-out set, showing that CV improvement does not always generalize.</a:t>
            </a:r>
          </a:p>
        </p:txBody>
      </p:sp>
      <p:pic>
        <p:nvPicPr>
          <p:cNvPr id="13" name="Picture 12" descr="cell52_17_Final_Model_Comparison_Definitive_Ranking__1.png"/>
          <p:cNvPicPr>
            <a:picLocks noChangeAspect="1"/>
          </p:cNvPicPr>
          <p:nvPr/>
        </p:nvPicPr>
        <p:blipFill>
          <a:blip r:embed="rId2"/>
          <a:stretch>
            <a:fillRect/>
          </a:stretch>
        </p:blipFill>
        <p:spPr>
          <a:xfrm>
            <a:off x="5440680" y="1571905"/>
            <a:ext cx="6355080" cy="4345126"/>
          </a:xfrm>
          <a:prstGeom prst="rect">
            <a:avLst/>
          </a:prstGeom>
        </p:spPr>
      </p:pic>
      <p:sp>
        <p:nvSpPr>
          <p:cNvPr id="14" name="TextBox 13"/>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regression.ipynb, definitive final ranking across all 10 models (R², RMSE, MAE, fit time)</a:t>
            </a:r>
          </a:p>
        </p:txBody>
      </p:sp>
      <p:pic>
        <p:nvPicPr>
          <p:cNvPr id="15" name="Picture 14" descr="1.png"/>
          <p:cNvPicPr>
            <a:picLocks noChangeAspect="1"/>
          </p:cNvPicPr>
          <p:nvPr/>
        </p:nvPicPr>
        <p:blipFill>
          <a:blip r:embed="rId3"/>
          <a:stretch>
            <a:fillRect/>
          </a:stretch>
        </p:blipFill>
        <p:spPr>
          <a:xfrm>
            <a:off x="411480" y="6528816"/>
            <a:ext cx="274320" cy="274320"/>
          </a:xfrm>
          <a:prstGeom prst="rect">
            <a:avLst/>
          </a:prstGeom>
        </p:spPr>
      </p:pic>
      <p:sp>
        <p:nvSpPr>
          <p:cNvPr id="16" name="TextBox 15"/>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17" name="TextBox 16"/>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Logistic Regression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Classification 1/5</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Multinomial Logistic Regression models the probability of each of the 7 bean cultivars using a softmax over linear combinations of standardized morphological features, producing linear decision boundaries between classes.</a:t>
            </a:r>
          </a:p>
        </p:txBody>
      </p:sp>
      <p:sp>
        <p:nvSpPr>
          <p:cNvPr id="10" name="Rectangle 9"/>
          <p:cNvSpPr/>
          <p:nvPr/>
        </p:nvSpPr>
        <p:spPr>
          <a:xfrm>
            <a:off x="411480" y="231698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LogisticRegression(max_iter=1000, random_state=42)</a:t>
            </a:r>
          </a:p>
          <a:p>
            <a:pPr algn="l">
              <a:lnSpc>
                <a:spcPct val="108000"/>
              </a:lnSpc>
              <a:spcAft>
                <a:spcPts val="300"/>
              </a:spcAft>
            </a:pPr>
            <a:r>
              <a:rPr sz="1050" b="0">
                <a:solidFill>
                  <a:srgbClr val="454F5B"/>
                </a:solidFill>
                <a:latin typeface="Calibri"/>
              </a:rPr>
              <a:t>• GridSearchCV(cv=3, stratified): C ∈ {0.1, 1.0, 10.0}</a:t>
            </a:r>
          </a:p>
          <a:p>
            <a:pPr algn="l">
              <a:lnSpc>
                <a:spcPct val="108000"/>
              </a:lnSpc>
              <a:spcAft>
                <a:spcPts val="300"/>
              </a:spcAft>
            </a:pPr>
            <a:r>
              <a:rPr sz="1050" b="0">
                <a:solidFill>
                  <a:srgbClr val="454F5B"/>
                </a:solidFill>
                <a:latin typeface="Calibri"/>
              </a:rPr>
              <a:t>• Best param: C=10.0 (best CV accuracy = 0.9244)</a:t>
            </a:r>
          </a:p>
          <a:p>
            <a:pPr algn="l">
              <a:lnSpc>
                <a:spcPct val="108000"/>
              </a:lnSpc>
              <a:spcAft>
                <a:spcPts val="300"/>
              </a:spcAft>
            </a:pPr>
            <a:r>
              <a:rPr sz="1050" b="0">
                <a:solidFill>
                  <a:srgbClr val="454F5B"/>
                </a:solidFill>
                <a:latin typeface="Calibri"/>
              </a:rPr>
              <a:t>• Preprocessing: StandardScaler fit on train only</a:t>
            </a:r>
          </a:p>
        </p:txBody>
      </p:sp>
      <p:sp>
        <p:nvSpPr>
          <p:cNvPr id="13" name="Rectangle 12"/>
          <p:cNvSpPr/>
          <p:nvPr/>
        </p:nvSpPr>
        <p:spPr>
          <a:xfrm>
            <a:off x="411480" y="359714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8444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877056"/>
          <a:ext cx="4709160" cy="621792"/>
        </p:xfrm>
        <a:graphic>
          <a:graphicData uri="http://schemas.openxmlformats.org/drawingml/2006/table">
            <a:tbl>
              <a:tblPr firstRow="1">
                <a:tableStyleId>{5C22544A-7EE6-4342-B048-85BDC9FD1C3A}</a:tableStyleId>
              </a:tblPr>
              <a:tblGrid>
                <a:gridCol w="784860"/>
                <a:gridCol w="784860"/>
                <a:gridCol w="784860"/>
                <a:gridCol w="784860"/>
                <a:gridCol w="784860"/>
                <a:gridCol w="784860"/>
              </a:tblGrid>
              <a:tr h="310896">
                <a:tc>
                  <a:txBody>
                    <a:bodyPr lIns="76200" rIns="50800" tIns="38100" bIns="38100"/>
                    <a:lstStyle/>
                    <a:p>
                      <a:pPr algn="l"/>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Precision (w)</a:t>
                      </a:r>
                    </a:p>
                  </a:txBody>
                  <a:tcPr anchor="ctr">
                    <a:solidFill>
                      <a:srgbClr val="0F6B63"/>
                    </a:solidFill>
                  </a:tcPr>
                </a:tc>
                <a:tc>
                  <a:txBody>
                    <a:bodyPr lIns="76200" rIns="50800" tIns="38100" bIns="38100"/>
                    <a:lstStyle/>
                    <a:p>
                      <a:pPr algn="ctr"/>
                      <a:r>
                        <a:rPr sz="1100" b="1">
                          <a:solidFill>
                            <a:srgbClr val="FFFFFF"/>
                          </a:solidFill>
                          <a:latin typeface="Calibri"/>
                        </a:rPr>
                        <a:t>Recall (w)</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310896">
                <a:tc>
                  <a:txBody>
                    <a:bodyPr lIns="76200" rIns="50800" tIns="25400" bIns="25400"/>
                    <a:lstStyle/>
                    <a:p>
                      <a:pPr algn="l"/>
                      <a:r>
                        <a:rPr sz="1150" b="1">
                          <a:solidFill>
                            <a:srgbClr val="22272E"/>
                          </a:solidFill>
                          <a:latin typeface="Calibri"/>
                        </a:rPr>
                        <a:t>0.9206</a:t>
                      </a:r>
                    </a:p>
                  </a:txBody>
                  <a:tcPr anchor="ctr">
                    <a:solidFill>
                      <a:srgbClr val="FFFFFF"/>
                    </a:solidFill>
                  </a:tcPr>
                </a:tc>
                <a:tc>
                  <a:txBody>
                    <a:bodyPr lIns="76200" rIns="50800" tIns="25400" bIns="25400"/>
                    <a:lstStyle/>
                    <a:p>
                      <a:pPr algn="ctr"/>
                      <a:r>
                        <a:rPr sz="1150" b="0">
                          <a:solidFill>
                            <a:srgbClr val="22272E"/>
                          </a:solidFill>
                          <a:latin typeface="Calibri"/>
                        </a:rPr>
                        <a:t>0.9213</a:t>
                      </a:r>
                    </a:p>
                  </a:txBody>
                  <a:tcPr anchor="ctr">
                    <a:solidFill>
                      <a:srgbClr val="FFFFFF"/>
                    </a:solidFill>
                  </a:tcPr>
                </a:tc>
                <a:tc>
                  <a:txBody>
                    <a:bodyPr lIns="76200" rIns="50800" tIns="25400" bIns="25400"/>
                    <a:lstStyle/>
                    <a:p>
                      <a:pPr algn="ctr"/>
                      <a:r>
                        <a:rPr sz="1150" b="0">
                          <a:solidFill>
                            <a:srgbClr val="22272E"/>
                          </a:solidFill>
                          <a:latin typeface="Calibri"/>
                        </a:rPr>
                        <a:t>0.9206</a:t>
                      </a:r>
                    </a:p>
                  </a:txBody>
                  <a:tcPr anchor="ctr">
                    <a:solidFill>
                      <a:srgbClr val="FFFFFF"/>
                    </a:solidFill>
                  </a:tcPr>
                </a:tc>
                <a:tc>
                  <a:txBody>
                    <a:bodyPr lIns="76200" rIns="50800" tIns="25400" bIns="25400"/>
                    <a:lstStyle/>
                    <a:p>
                      <a:pPr algn="ctr"/>
                      <a:r>
                        <a:rPr sz="1150" b="0">
                          <a:solidFill>
                            <a:srgbClr val="22272E"/>
                          </a:solidFill>
                          <a:latin typeface="Calibri"/>
                        </a:rPr>
                        <a:t>0.9208</a:t>
                      </a:r>
                    </a:p>
                  </a:txBody>
                  <a:tcPr anchor="ctr">
                    <a:solidFill>
                      <a:srgbClr val="FFFFFF"/>
                    </a:solidFill>
                  </a:tcPr>
                </a:tc>
                <a:tc>
                  <a:txBody>
                    <a:bodyPr lIns="76200" rIns="50800" tIns="25400" bIns="25400"/>
                    <a:lstStyle/>
                    <a:p>
                      <a:pPr algn="ctr"/>
                      <a:r>
                        <a:rPr sz="1150" b="0">
                          <a:solidFill>
                            <a:srgbClr val="22272E"/>
                          </a:solidFill>
                          <a:latin typeface="Calibri"/>
                        </a:rPr>
                        <a:t>0.9311</a:t>
                      </a:r>
                    </a:p>
                  </a:txBody>
                  <a:tcPr anchor="ctr">
                    <a:solidFill>
                      <a:srgbClr val="FFFFFF"/>
                    </a:solidFill>
                  </a:tcPr>
                </a:tc>
                <a:tc>
                  <a:txBody>
                    <a:bodyPr lIns="76200" rIns="50800" tIns="25400" bIns="25400"/>
                    <a:lstStyle/>
                    <a:p>
                      <a:pPr algn="ctr"/>
                      <a:r>
                        <a:rPr sz="1150" b="0">
                          <a:solidFill>
                            <a:srgbClr val="22272E"/>
                          </a:solidFill>
                          <a:latin typeface="Calibri"/>
                        </a:rPr>
                        <a:t>0.9936</a:t>
                      </a:r>
                    </a:p>
                  </a:txBody>
                  <a:tcPr anchor="ctr">
                    <a:solidFill>
                      <a:srgbClr val="FFFFFF"/>
                    </a:solidFill>
                  </a:tcPr>
                </a:tc>
              </a:tr>
            </a:tbl>
          </a:graphicData>
        </a:graphic>
      </p:graphicFrame>
      <p:sp>
        <p:nvSpPr>
          <p:cNvPr id="16" name="Rectangle 15"/>
          <p:cNvSpPr/>
          <p:nvPr/>
        </p:nvSpPr>
        <p:spPr>
          <a:xfrm>
            <a:off x="411480" y="467614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66344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937760"/>
            <a:ext cx="4709160" cy="1188720"/>
          </a:xfrm>
          <a:prstGeom prst="rect">
            <a:avLst/>
          </a:prstGeom>
          <a:noFill/>
        </p:spPr>
        <p:txBody>
          <a:bodyPr wrap="square" anchor="t" lIns="0" rIns="0" tIns="0" bIns="0">
            <a:spAutoFit/>
          </a:bodyPr>
          <a:lstStyle/>
          <a:p>
            <a:pPr algn="l"/>
            <a:r>
              <a:rPr sz="1050" b="0" i="0">
                <a:solidFill>
                  <a:srgbClr val="22272E"/>
                </a:solidFill>
                <a:latin typeface="Calibri"/>
              </a:rPr>
              <a:t>Logistic Regression is a strong linear baseline, second only to SVM in test accuracy. Its near-perfect separation of BOMBAY (100% precision) reflects that variety's distinctly larger size, while most confusion is between SIRA and DERMASON.</a:t>
            </a:r>
          </a:p>
        </p:txBody>
      </p:sp>
      <p:pic>
        <p:nvPicPr>
          <p:cNvPr id="19" name="Picture 18" descr="cell29_11_Model_1_Logistic_Regression_Multinomial_Linear_Classifier_1.png"/>
          <p:cNvPicPr>
            <a:picLocks noChangeAspect="1"/>
          </p:cNvPicPr>
          <p:nvPr/>
        </p:nvPicPr>
        <p:blipFill>
          <a:blip r:embed="rId2"/>
          <a:stretch>
            <a:fillRect/>
          </a:stretch>
        </p:blipFill>
        <p:spPr>
          <a:xfrm>
            <a:off x="5440680" y="1247829"/>
            <a:ext cx="6355080" cy="4993277"/>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held-out test confusion matrix</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K-Nearest Neighbors (KNN)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Classification 2/5</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KNN classifies each bean by majority vote among its k nearest neighbors in standardized feature space, based on Euclidean distance across all 17 features.</a:t>
            </a:r>
          </a:p>
        </p:txBody>
      </p:sp>
      <p:sp>
        <p:nvSpPr>
          <p:cNvPr id="10" name="Rectangle 9"/>
          <p:cNvSpPr/>
          <p:nvPr/>
        </p:nvSpPr>
        <p:spPr>
          <a:xfrm>
            <a:off x="411480" y="213410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12140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39572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KNeighborsClassifier()</a:t>
            </a:r>
          </a:p>
          <a:p>
            <a:pPr algn="l">
              <a:lnSpc>
                <a:spcPct val="108000"/>
              </a:lnSpc>
              <a:spcAft>
                <a:spcPts val="300"/>
              </a:spcAft>
            </a:pPr>
            <a:r>
              <a:rPr sz="1050" b="0">
                <a:solidFill>
                  <a:srgbClr val="454F5B"/>
                </a:solidFill>
                <a:latin typeface="Calibri"/>
              </a:rPr>
              <a:t>• GridSearchCV(cv=3, stratified): n_neighbors ∈ {3,5,7,9,11,13}</a:t>
            </a:r>
          </a:p>
          <a:p>
            <a:pPr algn="l">
              <a:lnSpc>
                <a:spcPct val="108000"/>
              </a:lnSpc>
              <a:spcAft>
                <a:spcPts val="300"/>
              </a:spcAft>
            </a:pPr>
            <a:r>
              <a:rPr sz="1050" b="0">
                <a:solidFill>
                  <a:srgbClr val="454F5B"/>
                </a:solidFill>
                <a:latin typeface="Calibri"/>
              </a:rPr>
              <a:t>• Best param: n_neighbors=13 (best CV accuracy = 0.9232)</a:t>
            </a:r>
          </a:p>
          <a:p>
            <a:pPr algn="l">
              <a:lnSpc>
                <a:spcPct val="108000"/>
              </a:lnSpc>
              <a:spcAft>
                <a:spcPts val="300"/>
              </a:spcAft>
            </a:pPr>
            <a:r>
              <a:rPr sz="1050" b="0">
                <a:solidFill>
                  <a:srgbClr val="454F5B"/>
                </a:solidFill>
                <a:latin typeface="Calibri"/>
              </a:rPr>
              <a:t>• Preprocessing: StandardScaler fit on train only</a:t>
            </a:r>
          </a:p>
        </p:txBody>
      </p:sp>
      <p:sp>
        <p:nvSpPr>
          <p:cNvPr id="13" name="Rectangle 12"/>
          <p:cNvSpPr/>
          <p:nvPr/>
        </p:nvSpPr>
        <p:spPr>
          <a:xfrm>
            <a:off x="411480" y="341426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40156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694176"/>
          <a:ext cx="4709160" cy="621792"/>
        </p:xfrm>
        <a:graphic>
          <a:graphicData uri="http://schemas.openxmlformats.org/drawingml/2006/table">
            <a:tbl>
              <a:tblPr firstRow="1">
                <a:tableStyleId>{5C22544A-7EE6-4342-B048-85BDC9FD1C3A}</a:tableStyleId>
              </a:tblPr>
              <a:tblGrid>
                <a:gridCol w="784860"/>
                <a:gridCol w="784860"/>
                <a:gridCol w="784860"/>
                <a:gridCol w="784860"/>
                <a:gridCol w="784860"/>
                <a:gridCol w="784860"/>
              </a:tblGrid>
              <a:tr h="310896">
                <a:tc>
                  <a:txBody>
                    <a:bodyPr lIns="76200" rIns="50800" tIns="38100" bIns="38100"/>
                    <a:lstStyle/>
                    <a:p>
                      <a:pPr algn="l"/>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Precision (w)</a:t>
                      </a:r>
                    </a:p>
                  </a:txBody>
                  <a:tcPr anchor="ctr">
                    <a:solidFill>
                      <a:srgbClr val="0F6B63"/>
                    </a:solidFill>
                  </a:tcPr>
                </a:tc>
                <a:tc>
                  <a:txBody>
                    <a:bodyPr lIns="76200" rIns="50800" tIns="38100" bIns="38100"/>
                    <a:lstStyle/>
                    <a:p>
                      <a:pPr algn="ctr"/>
                      <a:r>
                        <a:rPr sz="1100" b="1">
                          <a:solidFill>
                            <a:srgbClr val="FFFFFF"/>
                          </a:solidFill>
                          <a:latin typeface="Calibri"/>
                        </a:rPr>
                        <a:t>Recall (w)</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310896">
                <a:tc>
                  <a:txBody>
                    <a:bodyPr lIns="76200" rIns="50800" tIns="25400" bIns="25400"/>
                    <a:lstStyle/>
                    <a:p>
                      <a:pPr algn="l"/>
                      <a:r>
                        <a:rPr sz="1150" b="1">
                          <a:solidFill>
                            <a:srgbClr val="22272E"/>
                          </a:solidFill>
                          <a:latin typeface="Calibri"/>
                        </a:rPr>
                        <a:t>0.9169</a:t>
                      </a:r>
                    </a:p>
                  </a:txBody>
                  <a:tcPr anchor="ctr">
                    <a:solidFill>
                      <a:srgbClr val="FFFFFF"/>
                    </a:solidFill>
                  </a:tcPr>
                </a:tc>
                <a:tc>
                  <a:txBody>
                    <a:bodyPr lIns="76200" rIns="50800" tIns="25400" bIns="25400"/>
                    <a:lstStyle/>
                    <a:p>
                      <a:pPr algn="ctr"/>
                      <a:r>
                        <a:rPr sz="1150" b="0">
                          <a:solidFill>
                            <a:srgbClr val="22272E"/>
                          </a:solidFill>
                          <a:latin typeface="Calibri"/>
                        </a:rPr>
                        <a:t>0.9177</a:t>
                      </a:r>
                    </a:p>
                  </a:txBody>
                  <a:tcPr anchor="ctr">
                    <a:solidFill>
                      <a:srgbClr val="FFFFFF"/>
                    </a:solidFill>
                  </a:tcPr>
                </a:tc>
                <a:tc>
                  <a:txBody>
                    <a:bodyPr lIns="76200" rIns="50800" tIns="25400" bIns="25400"/>
                    <a:lstStyle/>
                    <a:p>
                      <a:pPr algn="ctr"/>
                      <a:r>
                        <a:rPr sz="1150" b="0">
                          <a:solidFill>
                            <a:srgbClr val="22272E"/>
                          </a:solidFill>
                          <a:latin typeface="Calibri"/>
                        </a:rPr>
                        <a:t>0.9169</a:t>
                      </a:r>
                    </a:p>
                  </a:txBody>
                  <a:tcPr anchor="ctr">
                    <a:solidFill>
                      <a:srgbClr val="FFFFFF"/>
                    </a:solidFill>
                  </a:tcPr>
                </a:tc>
                <a:tc>
                  <a:txBody>
                    <a:bodyPr lIns="76200" rIns="50800" tIns="25400" bIns="25400"/>
                    <a:lstStyle/>
                    <a:p>
                      <a:pPr algn="ctr"/>
                      <a:r>
                        <a:rPr sz="1150" b="0">
                          <a:solidFill>
                            <a:srgbClr val="22272E"/>
                          </a:solidFill>
                          <a:latin typeface="Calibri"/>
                        </a:rPr>
                        <a:t>0.9171</a:t>
                      </a:r>
                    </a:p>
                  </a:txBody>
                  <a:tcPr anchor="ctr">
                    <a:solidFill>
                      <a:srgbClr val="FFFFFF"/>
                    </a:solidFill>
                  </a:tcPr>
                </a:tc>
                <a:tc>
                  <a:txBody>
                    <a:bodyPr lIns="76200" rIns="50800" tIns="25400" bIns="25400"/>
                    <a:lstStyle/>
                    <a:p>
                      <a:pPr algn="ctr"/>
                      <a:r>
                        <a:rPr sz="1150" b="0">
                          <a:solidFill>
                            <a:srgbClr val="22272E"/>
                          </a:solidFill>
                          <a:latin typeface="Calibri"/>
                        </a:rPr>
                        <a:t>0.9293</a:t>
                      </a:r>
                    </a:p>
                  </a:txBody>
                  <a:tcPr anchor="ctr">
                    <a:solidFill>
                      <a:srgbClr val="FFFFFF"/>
                    </a:solidFill>
                  </a:tcPr>
                </a:tc>
                <a:tc>
                  <a:txBody>
                    <a:bodyPr lIns="76200" rIns="50800" tIns="25400" bIns="25400"/>
                    <a:lstStyle/>
                    <a:p>
                      <a:pPr algn="ctr"/>
                      <a:r>
                        <a:rPr sz="1150" b="0">
                          <a:solidFill>
                            <a:srgbClr val="22272E"/>
                          </a:solidFill>
                          <a:latin typeface="Calibri"/>
                        </a:rPr>
                        <a:t>0.9880</a:t>
                      </a:r>
                    </a:p>
                  </a:txBody>
                  <a:tcPr anchor="ctr">
                    <a:solidFill>
                      <a:srgbClr val="FFFFFF"/>
                    </a:solidFill>
                  </a:tcPr>
                </a:tc>
              </a:tr>
            </a:tbl>
          </a:graphicData>
        </a:graphic>
      </p:graphicFrame>
      <p:sp>
        <p:nvSpPr>
          <p:cNvPr id="16" name="Rectangle 15"/>
          <p:cNvSpPr/>
          <p:nvPr/>
        </p:nvSpPr>
        <p:spPr>
          <a:xfrm>
            <a:off x="411480" y="449326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48056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754880"/>
            <a:ext cx="4709160" cy="1188720"/>
          </a:xfrm>
          <a:prstGeom prst="rect">
            <a:avLst/>
          </a:prstGeom>
          <a:noFill/>
        </p:spPr>
        <p:txBody>
          <a:bodyPr wrap="square" anchor="t" lIns="0" rIns="0" tIns="0" bIns="0">
            <a:spAutoFit/>
          </a:bodyPr>
          <a:lstStyle/>
          <a:p>
            <a:pPr algn="l"/>
            <a:r>
              <a:rPr sz="1050" b="0" i="0">
                <a:solidFill>
                  <a:srgbClr val="22272E"/>
                </a:solidFill>
                <a:latin typeface="Calibri"/>
              </a:rPr>
              <a:t>k=13 balances bias and variance best under cross-validation. KNN resolves compact clusters like SEKER cleanly, with most remaining errors concentrated where SIRA and DERMASON densities overlap.</a:t>
            </a:r>
          </a:p>
        </p:txBody>
      </p:sp>
      <p:pic>
        <p:nvPicPr>
          <p:cNvPr id="19" name="Picture 18" descr="cell34_12_Model_2_K_Nearest_Neighbors_KNN__1.png"/>
          <p:cNvPicPr>
            <a:picLocks noChangeAspect="1"/>
          </p:cNvPicPr>
          <p:nvPr/>
        </p:nvPicPr>
        <p:blipFill>
          <a:blip r:embed="rId2"/>
          <a:stretch>
            <a:fillRect/>
          </a:stretch>
        </p:blipFill>
        <p:spPr>
          <a:xfrm>
            <a:off x="5440680" y="1247829"/>
            <a:ext cx="6355080" cy="4993277"/>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held-out test confusion matrix</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Decision Tree Classifier</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Classification 3/5</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A decision tree classifier recursively splits the feature space along single-feature thresholds, choosing splits that maximize Gini impurity reduction at each node, producing an interpretable set of if/then rules.</a:t>
            </a:r>
          </a:p>
        </p:txBody>
      </p:sp>
      <p:sp>
        <p:nvSpPr>
          <p:cNvPr id="10" name="Rectangle 9"/>
          <p:cNvSpPr/>
          <p:nvPr/>
        </p:nvSpPr>
        <p:spPr>
          <a:xfrm>
            <a:off x="411480" y="231698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DecisionTreeClassifier(random_state=42)</a:t>
            </a:r>
          </a:p>
          <a:p>
            <a:pPr algn="l">
              <a:lnSpc>
                <a:spcPct val="108000"/>
              </a:lnSpc>
              <a:spcAft>
                <a:spcPts val="300"/>
              </a:spcAft>
            </a:pPr>
            <a:r>
              <a:rPr sz="1050" b="0">
                <a:solidFill>
                  <a:srgbClr val="454F5B"/>
                </a:solidFill>
                <a:latin typeface="Calibri"/>
              </a:rPr>
              <a:t>• GridSearchCV(cv=3, stratified): max_depth ∈ {6,8,10,12,None}, min_samples_split ∈ {2,5,10}</a:t>
            </a:r>
          </a:p>
          <a:p>
            <a:pPr algn="l">
              <a:lnSpc>
                <a:spcPct val="108000"/>
              </a:lnSpc>
              <a:spcAft>
                <a:spcPts val="300"/>
              </a:spcAft>
            </a:pPr>
            <a:r>
              <a:rPr sz="1050" b="0">
                <a:solidFill>
                  <a:srgbClr val="454F5B"/>
                </a:solidFill>
                <a:latin typeface="Calibri"/>
              </a:rPr>
              <a:t>• Best params: max_depth=12, min_samples_split=10 (best CV accuracy = 0.9055)</a:t>
            </a:r>
          </a:p>
          <a:p>
            <a:pPr algn="l">
              <a:lnSpc>
                <a:spcPct val="108000"/>
              </a:lnSpc>
              <a:spcAft>
                <a:spcPts val="300"/>
              </a:spcAft>
            </a:pPr>
            <a:r>
              <a:rPr sz="1050" b="0">
                <a:solidFill>
                  <a:srgbClr val="454F5B"/>
                </a:solidFill>
                <a:latin typeface="Calibri"/>
              </a:rPr>
              <a:t>• No feature scaling required (tree-based)</a:t>
            </a:r>
          </a:p>
        </p:txBody>
      </p:sp>
      <p:sp>
        <p:nvSpPr>
          <p:cNvPr id="13" name="Rectangle 12"/>
          <p:cNvSpPr/>
          <p:nvPr/>
        </p:nvSpPr>
        <p:spPr>
          <a:xfrm>
            <a:off x="411480" y="359714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8444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877056"/>
          <a:ext cx="4709160" cy="621792"/>
        </p:xfrm>
        <a:graphic>
          <a:graphicData uri="http://schemas.openxmlformats.org/drawingml/2006/table">
            <a:tbl>
              <a:tblPr firstRow="1">
                <a:tableStyleId>{5C22544A-7EE6-4342-B048-85BDC9FD1C3A}</a:tableStyleId>
              </a:tblPr>
              <a:tblGrid>
                <a:gridCol w="784860"/>
                <a:gridCol w="784860"/>
                <a:gridCol w="784860"/>
                <a:gridCol w="784860"/>
                <a:gridCol w="784860"/>
                <a:gridCol w="784860"/>
              </a:tblGrid>
              <a:tr h="310896">
                <a:tc>
                  <a:txBody>
                    <a:bodyPr lIns="76200" rIns="50800" tIns="38100" bIns="38100"/>
                    <a:lstStyle/>
                    <a:p>
                      <a:pPr algn="l"/>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Precision (w)</a:t>
                      </a:r>
                    </a:p>
                  </a:txBody>
                  <a:tcPr anchor="ctr">
                    <a:solidFill>
                      <a:srgbClr val="0F6B63"/>
                    </a:solidFill>
                  </a:tcPr>
                </a:tc>
                <a:tc>
                  <a:txBody>
                    <a:bodyPr lIns="76200" rIns="50800" tIns="38100" bIns="38100"/>
                    <a:lstStyle/>
                    <a:p>
                      <a:pPr algn="ctr"/>
                      <a:r>
                        <a:rPr sz="1100" b="1">
                          <a:solidFill>
                            <a:srgbClr val="FFFFFF"/>
                          </a:solidFill>
                          <a:latin typeface="Calibri"/>
                        </a:rPr>
                        <a:t>Recall (w)</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310896">
                <a:tc>
                  <a:txBody>
                    <a:bodyPr lIns="76200" rIns="50800" tIns="25400" bIns="25400"/>
                    <a:lstStyle/>
                    <a:p>
                      <a:pPr algn="l"/>
                      <a:r>
                        <a:rPr sz="1150" b="1">
                          <a:solidFill>
                            <a:srgbClr val="22272E"/>
                          </a:solidFill>
                          <a:latin typeface="Calibri"/>
                        </a:rPr>
                        <a:t>0.9051</a:t>
                      </a:r>
                    </a:p>
                  </a:txBody>
                  <a:tcPr anchor="ctr">
                    <a:solidFill>
                      <a:srgbClr val="FFFFFF"/>
                    </a:solidFill>
                  </a:tcPr>
                </a:tc>
                <a:tc>
                  <a:txBody>
                    <a:bodyPr lIns="76200" rIns="50800" tIns="25400" bIns="25400"/>
                    <a:lstStyle/>
                    <a:p>
                      <a:pPr algn="ctr"/>
                      <a:r>
                        <a:rPr sz="1150" b="0">
                          <a:solidFill>
                            <a:srgbClr val="22272E"/>
                          </a:solidFill>
                          <a:latin typeface="Calibri"/>
                        </a:rPr>
                        <a:t>0.9051</a:t>
                      </a:r>
                    </a:p>
                  </a:txBody>
                  <a:tcPr anchor="ctr">
                    <a:solidFill>
                      <a:srgbClr val="FFFFFF"/>
                    </a:solidFill>
                  </a:tcPr>
                </a:tc>
                <a:tc>
                  <a:txBody>
                    <a:bodyPr lIns="76200" rIns="50800" tIns="25400" bIns="25400"/>
                    <a:lstStyle/>
                    <a:p>
                      <a:pPr algn="ctr"/>
                      <a:r>
                        <a:rPr sz="1150" b="0">
                          <a:solidFill>
                            <a:srgbClr val="22272E"/>
                          </a:solidFill>
                          <a:latin typeface="Calibri"/>
                        </a:rPr>
                        <a:t>0.9051</a:t>
                      </a:r>
                    </a:p>
                  </a:txBody>
                  <a:tcPr anchor="ctr">
                    <a:solidFill>
                      <a:srgbClr val="FFFFFF"/>
                    </a:solidFill>
                  </a:tcPr>
                </a:tc>
                <a:tc>
                  <a:txBody>
                    <a:bodyPr lIns="76200" rIns="50800" tIns="25400" bIns="25400"/>
                    <a:lstStyle/>
                    <a:p>
                      <a:pPr algn="ctr"/>
                      <a:r>
                        <a:rPr sz="1150" b="0">
                          <a:solidFill>
                            <a:srgbClr val="22272E"/>
                          </a:solidFill>
                          <a:latin typeface="Calibri"/>
                        </a:rPr>
                        <a:t>0.9049</a:t>
                      </a:r>
                    </a:p>
                  </a:txBody>
                  <a:tcPr anchor="ctr">
                    <a:solidFill>
                      <a:srgbClr val="FFFFFF"/>
                    </a:solidFill>
                  </a:tcPr>
                </a:tc>
                <a:tc>
                  <a:txBody>
                    <a:bodyPr lIns="76200" rIns="50800" tIns="25400" bIns="25400"/>
                    <a:lstStyle/>
                    <a:p>
                      <a:pPr algn="ctr"/>
                      <a:r>
                        <a:rPr sz="1150" b="0">
                          <a:solidFill>
                            <a:srgbClr val="22272E"/>
                          </a:solidFill>
                          <a:latin typeface="Calibri"/>
                        </a:rPr>
                        <a:t>0.9187</a:t>
                      </a:r>
                    </a:p>
                  </a:txBody>
                  <a:tcPr anchor="ctr">
                    <a:solidFill>
                      <a:srgbClr val="FFFFFF"/>
                    </a:solidFill>
                  </a:tcPr>
                </a:tc>
                <a:tc>
                  <a:txBody>
                    <a:bodyPr lIns="76200" rIns="50800" tIns="25400" bIns="25400"/>
                    <a:lstStyle/>
                    <a:p>
                      <a:pPr algn="ctr"/>
                      <a:r>
                        <a:rPr sz="1150" b="0">
                          <a:solidFill>
                            <a:srgbClr val="22272E"/>
                          </a:solidFill>
                          <a:latin typeface="Calibri"/>
                        </a:rPr>
                        <a:t>0.9629</a:t>
                      </a:r>
                    </a:p>
                  </a:txBody>
                  <a:tcPr anchor="ctr">
                    <a:solidFill>
                      <a:srgbClr val="FFFFFF"/>
                    </a:solidFill>
                  </a:tcPr>
                </a:tc>
              </a:tr>
            </a:tbl>
          </a:graphicData>
        </a:graphic>
      </p:graphicFrame>
      <p:sp>
        <p:nvSpPr>
          <p:cNvPr id="16" name="Rectangle 15"/>
          <p:cNvSpPr/>
          <p:nvPr/>
        </p:nvSpPr>
        <p:spPr>
          <a:xfrm>
            <a:off x="411480" y="467614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66344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937760"/>
            <a:ext cx="4709160" cy="1188720"/>
          </a:xfrm>
          <a:prstGeom prst="rect">
            <a:avLst/>
          </a:prstGeom>
          <a:noFill/>
        </p:spPr>
        <p:txBody>
          <a:bodyPr wrap="square" anchor="t" lIns="0" rIns="0" tIns="0" bIns="0">
            <a:spAutoFit/>
          </a:bodyPr>
          <a:lstStyle/>
          <a:p>
            <a:pPr algn="l"/>
            <a:r>
              <a:rPr sz="1050" b="0" i="0">
                <a:solidFill>
                  <a:srgbClr val="22272E"/>
                </a:solidFill>
                <a:latin typeface="Calibri"/>
              </a:rPr>
              <a:t>Decision Tree is the weakest of the five classifiers, though still above 90% accuracy. Its axis-aligned splits struggle with diagonal covariance between features like Area and Perimeter, but the tree remains fully interpretable.</a:t>
            </a:r>
          </a:p>
        </p:txBody>
      </p:sp>
      <p:pic>
        <p:nvPicPr>
          <p:cNvPr id="19" name="Picture 18" descr="cell37_13_Model_3_Decision_Tree_Classifier_1.png"/>
          <p:cNvPicPr>
            <a:picLocks noChangeAspect="1"/>
          </p:cNvPicPr>
          <p:nvPr/>
        </p:nvPicPr>
        <p:blipFill>
          <a:blip r:embed="rId2"/>
          <a:stretch>
            <a:fillRect/>
          </a:stretch>
        </p:blipFill>
        <p:spPr>
          <a:xfrm>
            <a:off x="5440680" y="1247829"/>
            <a:ext cx="6355080" cy="4993277"/>
          </a:xfrm>
          <a:prstGeom prst="rect">
            <a:avLst/>
          </a:prstGeom>
        </p:spPr>
      </p:pic>
      <p:sp>
        <p:nvSpPr>
          <p:cNvPr id="20" name="TextBox 19"/>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held-out test confusion matrix</a:t>
            </a:r>
          </a:p>
        </p:txBody>
      </p:sp>
      <p:pic>
        <p:nvPicPr>
          <p:cNvPr id="21" name="Picture 20" descr="1.png"/>
          <p:cNvPicPr>
            <a:picLocks noChangeAspect="1"/>
          </p:cNvPicPr>
          <p:nvPr/>
        </p:nvPicPr>
        <p:blipFill>
          <a:blip r:embed="rId3"/>
          <a:stretch>
            <a:fillRect/>
          </a:stretch>
        </p:blipFill>
        <p:spPr>
          <a:xfrm>
            <a:off x="411480" y="6528816"/>
            <a:ext cx="274320" cy="274320"/>
          </a:xfrm>
          <a:prstGeom prst="rect">
            <a:avLst/>
          </a:prstGeom>
        </p:spPr>
      </p:pic>
      <p:sp>
        <p:nvSpPr>
          <p:cNvPr id="22" name="TextBox 2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3" name="TextBox 2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Naive Bayes (Gaussian)</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Classification 4/5</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Gaussian Naive Bayes applies Bayes' theorem under the “naive” assumption that all features are conditionally independent given the class. It fits an independent 1-D Gaussian per feature per class, then picks the class with the highest posterior probability.</a:t>
            </a:r>
          </a:p>
        </p:txBody>
      </p:sp>
      <p:sp>
        <p:nvSpPr>
          <p:cNvPr id="10" name="Rectangle 9"/>
          <p:cNvSpPr/>
          <p:nvPr/>
        </p:nvSpPr>
        <p:spPr>
          <a:xfrm>
            <a:off x="411480" y="249986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48716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76148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GaussianNB() — default parameters (var_smoothing=1e-9)</a:t>
            </a:r>
          </a:p>
          <a:p>
            <a:pPr algn="l">
              <a:lnSpc>
                <a:spcPct val="108000"/>
              </a:lnSpc>
              <a:spcAft>
                <a:spcPts val="300"/>
              </a:spcAft>
            </a:pPr>
            <a:r>
              <a:rPr sz="1050" b="0">
                <a:solidFill>
                  <a:srgbClr val="454F5B"/>
                </a:solidFill>
                <a:latin typeface="Calibri"/>
              </a:rPr>
              <a:t>• No hyperparameter search required per capstone guidelines for this model</a:t>
            </a:r>
          </a:p>
          <a:p>
            <a:pPr algn="l">
              <a:lnSpc>
                <a:spcPct val="108000"/>
              </a:lnSpc>
              <a:spcAft>
                <a:spcPts val="300"/>
              </a:spcAft>
            </a:pPr>
            <a:r>
              <a:rPr sz="1050" b="0">
                <a:solidFill>
                  <a:srgbClr val="454F5B"/>
                </a:solidFill>
                <a:latin typeface="Calibri"/>
              </a:rPr>
              <a:t>• Trained on raw (unscaled) features — per-feature scaling does not change GaussianNB's decision boundary</a:t>
            </a:r>
          </a:p>
        </p:txBody>
      </p:sp>
      <p:sp>
        <p:nvSpPr>
          <p:cNvPr id="13" name="Rectangle 12"/>
          <p:cNvSpPr/>
          <p:nvPr/>
        </p:nvSpPr>
        <p:spPr>
          <a:xfrm>
            <a:off x="411480" y="3560572"/>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47872"/>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840480"/>
          <a:ext cx="4709160" cy="621792"/>
        </p:xfrm>
        <a:graphic>
          <a:graphicData uri="http://schemas.openxmlformats.org/drawingml/2006/table">
            <a:tbl>
              <a:tblPr firstRow="1">
                <a:tableStyleId>{5C22544A-7EE6-4342-B048-85BDC9FD1C3A}</a:tableStyleId>
              </a:tblPr>
              <a:tblGrid>
                <a:gridCol w="784860"/>
                <a:gridCol w="784860"/>
                <a:gridCol w="784860"/>
                <a:gridCol w="784860"/>
                <a:gridCol w="784860"/>
                <a:gridCol w="784860"/>
              </a:tblGrid>
              <a:tr h="310896">
                <a:tc>
                  <a:txBody>
                    <a:bodyPr lIns="76200" rIns="50800" tIns="38100" bIns="38100"/>
                    <a:lstStyle/>
                    <a:p>
                      <a:pPr algn="l"/>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Precision (w)</a:t>
                      </a:r>
                    </a:p>
                  </a:txBody>
                  <a:tcPr anchor="ctr">
                    <a:solidFill>
                      <a:srgbClr val="0F6B63"/>
                    </a:solidFill>
                  </a:tcPr>
                </a:tc>
                <a:tc>
                  <a:txBody>
                    <a:bodyPr lIns="76200" rIns="50800" tIns="38100" bIns="38100"/>
                    <a:lstStyle/>
                    <a:p>
                      <a:pPr algn="ctr"/>
                      <a:r>
                        <a:rPr sz="1100" b="1">
                          <a:solidFill>
                            <a:srgbClr val="FFFFFF"/>
                          </a:solidFill>
                          <a:latin typeface="Calibri"/>
                        </a:rPr>
                        <a:t>Recall (w)</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310896">
                <a:tc>
                  <a:txBody>
                    <a:bodyPr lIns="76200" rIns="50800" tIns="25400" bIns="25400"/>
                    <a:lstStyle/>
                    <a:p>
                      <a:pPr algn="l"/>
                      <a:r>
                        <a:rPr sz="1150" b="1">
                          <a:solidFill>
                            <a:srgbClr val="22272E"/>
                          </a:solidFill>
                          <a:latin typeface="Calibri"/>
                        </a:rPr>
                        <a:t>0.7545</a:t>
                      </a:r>
                    </a:p>
                  </a:txBody>
                  <a:tcPr anchor="ctr">
                    <a:solidFill>
                      <a:srgbClr val="FFFFFF"/>
                    </a:solidFill>
                  </a:tcPr>
                </a:tc>
                <a:tc>
                  <a:txBody>
                    <a:bodyPr lIns="76200" rIns="50800" tIns="25400" bIns="25400"/>
                    <a:lstStyle/>
                    <a:p>
                      <a:pPr algn="ctr"/>
                      <a:r>
                        <a:rPr sz="1150" b="0">
                          <a:solidFill>
                            <a:srgbClr val="22272E"/>
                          </a:solidFill>
                          <a:latin typeface="Calibri"/>
                        </a:rPr>
                        <a:t>0.7556</a:t>
                      </a:r>
                    </a:p>
                  </a:txBody>
                  <a:tcPr anchor="ctr">
                    <a:solidFill>
                      <a:srgbClr val="FFFFFF"/>
                    </a:solidFill>
                  </a:tcPr>
                </a:tc>
                <a:tc>
                  <a:txBody>
                    <a:bodyPr lIns="76200" rIns="50800" tIns="25400" bIns="25400"/>
                    <a:lstStyle/>
                    <a:p>
                      <a:pPr algn="ctr"/>
                      <a:r>
                        <a:rPr sz="1150" b="0">
                          <a:solidFill>
                            <a:srgbClr val="22272E"/>
                          </a:solidFill>
                          <a:latin typeface="Calibri"/>
                        </a:rPr>
                        <a:t>0.7545</a:t>
                      </a:r>
                    </a:p>
                  </a:txBody>
                  <a:tcPr anchor="ctr">
                    <a:solidFill>
                      <a:srgbClr val="FFFFFF"/>
                    </a:solidFill>
                  </a:tcPr>
                </a:tc>
                <a:tc>
                  <a:txBody>
                    <a:bodyPr lIns="76200" rIns="50800" tIns="25400" bIns="25400"/>
                    <a:lstStyle/>
                    <a:p>
                      <a:pPr algn="ctr"/>
                      <a:r>
                        <a:rPr sz="1150" b="0">
                          <a:solidFill>
                            <a:srgbClr val="22272E"/>
                          </a:solidFill>
                          <a:latin typeface="Calibri"/>
                        </a:rPr>
                        <a:t>0.7521</a:t>
                      </a:r>
                    </a:p>
                  </a:txBody>
                  <a:tcPr anchor="ctr">
                    <a:solidFill>
                      <a:srgbClr val="FFFFFF"/>
                    </a:solidFill>
                  </a:tcPr>
                </a:tc>
                <a:tc>
                  <a:txBody>
                    <a:bodyPr lIns="76200" rIns="50800" tIns="25400" bIns="25400"/>
                    <a:lstStyle/>
                    <a:p>
                      <a:pPr algn="ctr"/>
                      <a:r>
                        <a:rPr sz="1150" b="0">
                          <a:solidFill>
                            <a:srgbClr val="22272E"/>
                          </a:solidFill>
                          <a:latin typeface="Calibri"/>
                        </a:rPr>
                        <a:t>0.7571</a:t>
                      </a:r>
                    </a:p>
                  </a:txBody>
                  <a:tcPr anchor="ctr">
                    <a:solidFill>
                      <a:srgbClr val="FFFFFF"/>
                    </a:solidFill>
                  </a:tcPr>
                </a:tc>
                <a:tc>
                  <a:txBody>
                    <a:bodyPr lIns="76200" rIns="50800" tIns="25400" bIns="25400"/>
                    <a:lstStyle/>
                    <a:p>
                      <a:pPr algn="ctr"/>
                      <a:r>
                        <a:rPr sz="1150" b="0">
                          <a:solidFill>
                            <a:srgbClr val="22272E"/>
                          </a:solidFill>
                          <a:latin typeface="Calibri"/>
                        </a:rPr>
                        <a:t>0.9622</a:t>
                      </a:r>
                    </a:p>
                  </a:txBody>
                  <a:tcPr anchor="ctr">
                    <a:solidFill>
                      <a:srgbClr val="FFFFFF"/>
                    </a:solidFill>
                  </a:tcPr>
                </a:tc>
              </a:tr>
            </a:tbl>
          </a:graphicData>
        </a:graphic>
      </p:graphicFrame>
      <p:sp>
        <p:nvSpPr>
          <p:cNvPr id="16" name="Rectangle 15"/>
          <p:cNvSpPr/>
          <p:nvPr/>
        </p:nvSpPr>
        <p:spPr>
          <a:xfrm>
            <a:off x="411480" y="4639564"/>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626864"/>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901184"/>
            <a:ext cx="4709160" cy="1188720"/>
          </a:xfrm>
          <a:prstGeom prst="rect">
            <a:avLst/>
          </a:prstGeom>
          <a:noFill/>
        </p:spPr>
        <p:txBody>
          <a:bodyPr wrap="square" anchor="t" lIns="0" rIns="0" tIns="0" bIns="0">
            <a:spAutoFit/>
          </a:bodyPr>
          <a:lstStyle/>
          <a:p>
            <a:pPr algn="l"/>
            <a:r>
              <a:rPr sz="1050" b="0" i="0">
                <a:solidFill>
                  <a:srgbClr val="22272E"/>
                </a:solidFill>
                <a:latin typeface="Calibri"/>
              </a:rPr>
              <a:t>Naive Bayes is the weakest of the five Part-A classifiers because its independence assumption is strongly violated — several size features correlate at r ≥ 0.95 (Section 6). It still reaches a respectable ROC-AUC (0.9622), but double-counting correlated evidence drags accuracy down to 75.45%, with heavy confusion between BARBUNYA and CALI.</a:t>
            </a:r>
          </a:p>
        </p:txBody>
      </p:sp>
      <p:pic>
        <p:nvPicPr>
          <p:cNvPr id="19" name="Picture 18" descr="cell42_14_Model_4_Naive_Bayes_Gaussian__1.png"/>
          <p:cNvPicPr>
            <a:picLocks noChangeAspect="1"/>
          </p:cNvPicPr>
          <p:nvPr/>
        </p:nvPicPr>
        <p:blipFill>
          <a:blip r:embed="rId2"/>
          <a:stretch>
            <a:fillRect/>
          </a:stretch>
        </p:blipFill>
        <p:spPr>
          <a:xfrm>
            <a:off x="7035768" y="1207008"/>
            <a:ext cx="3164903" cy="2486709"/>
          </a:xfrm>
          <a:prstGeom prst="rect">
            <a:avLst/>
          </a:prstGeom>
        </p:spPr>
      </p:pic>
      <p:pic>
        <p:nvPicPr>
          <p:cNvPr id="20" name="Picture 19" descr="cell44_Per_Class_Feature_Likelihood_Analysis_0.png"/>
          <p:cNvPicPr>
            <a:picLocks noChangeAspect="1"/>
          </p:cNvPicPr>
          <p:nvPr/>
        </p:nvPicPr>
        <p:blipFill>
          <a:blip r:embed="rId3"/>
          <a:stretch>
            <a:fillRect/>
          </a:stretch>
        </p:blipFill>
        <p:spPr>
          <a:xfrm>
            <a:off x="6470607" y="3748582"/>
            <a:ext cx="4295226" cy="2486709"/>
          </a:xfrm>
          <a:prstGeom prst="rect">
            <a:avLst/>
          </a:prstGeom>
        </p:spPr>
      </p:pic>
      <p:sp>
        <p:nvSpPr>
          <p:cNvPr id="21" name="TextBox 20"/>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confusion matrix (top) and per-class Gaussian means theta_ (bottom)</a:t>
            </a:r>
          </a:p>
        </p:txBody>
      </p:sp>
      <p:pic>
        <p:nvPicPr>
          <p:cNvPr id="22" name="Picture 21" descr="1.png"/>
          <p:cNvPicPr>
            <a:picLocks noChangeAspect="1"/>
          </p:cNvPicPr>
          <p:nvPr/>
        </p:nvPicPr>
        <p:blipFill>
          <a:blip r:embed="rId4"/>
          <a:stretch>
            <a:fillRect/>
          </a:stretch>
        </p:blipFill>
        <p:spPr>
          <a:xfrm>
            <a:off x="411480" y="6528816"/>
            <a:ext cx="274320" cy="274320"/>
          </a:xfrm>
          <a:prstGeom prst="rect">
            <a:avLst/>
          </a:prstGeom>
        </p:spPr>
      </p:pic>
      <p:sp>
        <p:nvSpPr>
          <p:cNvPr id="23" name="TextBox 22"/>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4" name="TextBox 23"/>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Support Vector Machine (SVM)</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Classification 5/5</a:t>
            </a:r>
          </a:p>
        </p:txBody>
      </p:sp>
      <p:sp>
        <p:nvSpPr>
          <p:cNvPr id="7" name="Rectangle 6"/>
          <p:cNvSpPr/>
          <p:nvPr/>
        </p:nvSpPr>
        <p:spPr>
          <a:xfrm>
            <a:off x="411480" y="1201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188720"/>
            <a:ext cx="4206240" cy="256032"/>
          </a:xfrm>
          <a:prstGeom prst="rect">
            <a:avLst/>
          </a:prstGeom>
          <a:noFill/>
        </p:spPr>
        <p:txBody>
          <a:bodyPr wrap="square" anchor="t" lIns="0" rIns="0" tIns="0" bIns="0">
            <a:spAutoFit/>
          </a:bodyPr>
          <a:lstStyle/>
          <a:p>
            <a:pPr algn="l"/>
            <a:r>
              <a:rPr sz="1250" b="1" i="0">
                <a:solidFill>
                  <a:srgbClr val="1B2636"/>
                </a:solidFill>
                <a:latin typeface="Calibri"/>
              </a:rPr>
              <a:t>HOW IT WORKS</a:t>
            </a:r>
          </a:p>
        </p:txBody>
      </p:sp>
      <p:sp>
        <p:nvSpPr>
          <p:cNvPr id="9" name="TextBox 8"/>
          <p:cNvSpPr txBox="1"/>
          <p:nvPr/>
        </p:nvSpPr>
        <p:spPr>
          <a:xfrm>
            <a:off x="411480" y="1481328"/>
            <a:ext cx="4709160" cy="1051560"/>
          </a:xfrm>
          <a:prstGeom prst="rect">
            <a:avLst/>
          </a:prstGeom>
          <a:noFill/>
        </p:spPr>
        <p:txBody>
          <a:bodyPr wrap="square" anchor="t" lIns="0" rIns="0" tIns="0" bIns="0">
            <a:spAutoFit/>
          </a:bodyPr>
          <a:lstStyle/>
          <a:p>
            <a:pPr algn="l"/>
            <a:r>
              <a:rPr sz="1100" b="0" i="0">
                <a:solidFill>
                  <a:srgbClr val="454F5B"/>
                </a:solidFill>
                <a:latin typeface="Calibri"/>
              </a:rPr>
              <a:t>Support Vector Machine finds the hyperplane that maximizes the margin between classes; with the RBF kernel, it implicitly maps features into a higher-dimensional space where curved class boundaries become linearly separable.</a:t>
            </a:r>
          </a:p>
        </p:txBody>
      </p:sp>
      <p:sp>
        <p:nvSpPr>
          <p:cNvPr id="10" name="Rectangle 9"/>
          <p:cNvSpPr/>
          <p:nvPr/>
        </p:nvSpPr>
        <p:spPr>
          <a:xfrm>
            <a:off x="411480" y="231698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304288"/>
            <a:ext cx="4206240" cy="256032"/>
          </a:xfrm>
          <a:prstGeom prst="rect">
            <a:avLst/>
          </a:prstGeom>
          <a:noFill/>
        </p:spPr>
        <p:txBody>
          <a:bodyPr wrap="square" anchor="t" lIns="0" rIns="0" tIns="0" bIns="0">
            <a:spAutoFit/>
          </a:bodyPr>
          <a:lstStyle/>
          <a:p>
            <a:pPr algn="l"/>
            <a:r>
              <a:rPr sz="1250" b="1" i="0">
                <a:solidFill>
                  <a:srgbClr val="1B2636"/>
                </a:solidFill>
                <a:latin typeface="Calibri"/>
              </a:rPr>
              <a:t>ACTUAL CONFIGURATION (from notebook)</a:t>
            </a:r>
          </a:p>
        </p:txBody>
      </p:sp>
      <p:sp>
        <p:nvSpPr>
          <p:cNvPr id="12" name="TextBox 11"/>
          <p:cNvSpPr txBox="1"/>
          <p:nvPr/>
        </p:nvSpPr>
        <p:spPr>
          <a:xfrm>
            <a:off x="411480" y="2578608"/>
            <a:ext cx="4709160" cy="1188720"/>
          </a:xfrm>
          <a:prstGeom prst="rect">
            <a:avLst/>
          </a:prstGeom>
          <a:noFill/>
        </p:spPr>
        <p:txBody>
          <a:bodyPr wrap="square" lIns="0" rIns="0" tIns="0" bIns="0">
            <a:spAutoFit/>
          </a:bodyPr>
          <a:lstStyle/>
          <a:p>
            <a:pPr algn="l">
              <a:lnSpc>
                <a:spcPct val="108000"/>
              </a:lnSpc>
              <a:spcAft>
                <a:spcPts val="300"/>
              </a:spcAft>
            </a:pPr>
            <a:r>
              <a:rPr sz="1050" b="0">
                <a:solidFill>
                  <a:srgbClr val="454F5B"/>
                </a:solidFill>
                <a:latin typeface="Calibri"/>
              </a:rPr>
              <a:t>• SVC(probability=True, random_state=42)</a:t>
            </a:r>
          </a:p>
          <a:p>
            <a:pPr algn="l">
              <a:lnSpc>
                <a:spcPct val="108000"/>
              </a:lnSpc>
              <a:spcAft>
                <a:spcPts val="300"/>
              </a:spcAft>
            </a:pPr>
            <a:r>
              <a:rPr sz="1050" b="0">
                <a:solidFill>
                  <a:srgbClr val="454F5B"/>
                </a:solidFill>
                <a:latin typeface="Calibri"/>
              </a:rPr>
              <a:t>• GridSearchCV(cv=3, stratified): C ∈ {1,10}, kernel ∈ {linear, rbf}</a:t>
            </a:r>
          </a:p>
          <a:p>
            <a:pPr algn="l">
              <a:lnSpc>
                <a:spcPct val="108000"/>
              </a:lnSpc>
              <a:spcAft>
                <a:spcPts val="300"/>
              </a:spcAft>
            </a:pPr>
            <a:r>
              <a:rPr sz="1050" b="0">
                <a:solidFill>
                  <a:srgbClr val="454F5B"/>
                </a:solidFill>
                <a:latin typeface="Calibri"/>
              </a:rPr>
              <a:t>• Best params: C=10, kernel='rbf' (best CV accuracy = 0.9322)</a:t>
            </a:r>
          </a:p>
          <a:p>
            <a:pPr algn="l">
              <a:lnSpc>
                <a:spcPct val="108000"/>
              </a:lnSpc>
              <a:spcAft>
                <a:spcPts val="300"/>
              </a:spcAft>
            </a:pPr>
            <a:r>
              <a:rPr sz="1050" b="0">
                <a:solidFill>
                  <a:srgbClr val="454F5B"/>
                </a:solidFill>
                <a:latin typeface="Calibri"/>
              </a:rPr>
              <a:t>• Preprocessing: StandardScaler fit on train only</a:t>
            </a:r>
          </a:p>
        </p:txBody>
      </p:sp>
      <p:sp>
        <p:nvSpPr>
          <p:cNvPr id="13" name="Rectangle 12"/>
          <p:cNvSpPr/>
          <p:nvPr/>
        </p:nvSpPr>
        <p:spPr>
          <a:xfrm>
            <a:off x="411480" y="359714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84448"/>
            <a:ext cx="4206240" cy="256032"/>
          </a:xfrm>
          <a:prstGeom prst="rect">
            <a:avLst/>
          </a:prstGeom>
          <a:noFill/>
        </p:spPr>
        <p:txBody>
          <a:bodyPr wrap="square" anchor="t" lIns="0" rIns="0" tIns="0" bIns="0">
            <a:spAutoFit/>
          </a:bodyPr>
          <a:lstStyle/>
          <a:p>
            <a:pPr algn="l"/>
            <a:r>
              <a:rPr sz="1250" b="1" i="0">
                <a:solidFill>
                  <a:srgbClr val="1B2636"/>
                </a:solidFill>
                <a:latin typeface="Calibri"/>
              </a:rPr>
              <a:t>HELD-OUT TEST PERFORMANCE</a:t>
            </a:r>
          </a:p>
        </p:txBody>
      </p:sp>
      <p:graphicFrame>
        <p:nvGraphicFramePr>
          <p:cNvPr id="15" name="Table 14"/>
          <p:cNvGraphicFramePr>
            <a:graphicFrameLocks noGrp="1"/>
          </p:cNvGraphicFramePr>
          <p:nvPr/>
        </p:nvGraphicFramePr>
        <p:xfrm>
          <a:off x="411480" y="3877056"/>
          <a:ext cx="4709160" cy="621792"/>
        </p:xfrm>
        <a:graphic>
          <a:graphicData uri="http://schemas.openxmlformats.org/drawingml/2006/table">
            <a:tbl>
              <a:tblPr firstRow="1">
                <a:tableStyleId>{5C22544A-7EE6-4342-B048-85BDC9FD1C3A}</a:tableStyleId>
              </a:tblPr>
              <a:tblGrid>
                <a:gridCol w="784860"/>
                <a:gridCol w="784860"/>
                <a:gridCol w="784860"/>
                <a:gridCol w="784860"/>
                <a:gridCol w="784860"/>
                <a:gridCol w="784860"/>
              </a:tblGrid>
              <a:tr h="310896">
                <a:tc>
                  <a:txBody>
                    <a:bodyPr lIns="76200" rIns="50800" tIns="38100" bIns="38100"/>
                    <a:lstStyle/>
                    <a:p>
                      <a:pPr algn="l"/>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Precision (w)</a:t>
                      </a:r>
                    </a:p>
                  </a:txBody>
                  <a:tcPr anchor="ctr">
                    <a:solidFill>
                      <a:srgbClr val="0F6B63"/>
                    </a:solidFill>
                  </a:tcPr>
                </a:tc>
                <a:tc>
                  <a:txBody>
                    <a:bodyPr lIns="76200" rIns="50800" tIns="38100" bIns="38100"/>
                    <a:lstStyle/>
                    <a:p>
                      <a:pPr algn="ctr"/>
                      <a:r>
                        <a:rPr sz="1100" b="1">
                          <a:solidFill>
                            <a:srgbClr val="FFFFFF"/>
                          </a:solidFill>
                          <a:latin typeface="Calibri"/>
                        </a:rPr>
                        <a:t>Recall (w)</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310896">
                <a:tc>
                  <a:txBody>
                    <a:bodyPr lIns="76200" rIns="50800" tIns="25400" bIns="25400"/>
                    <a:lstStyle/>
                    <a:p>
                      <a:pPr algn="l"/>
                      <a:r>
                        <a:rPr sz="1150" b="1">
                          <a:solidFill>
                            <a:srgbClr val="22272E"/>
                          </a:solidFill>
                          <a:latin typeface="Calibri"/>
                        </a:rPr>
                        <a:t>0.9236</a:t>
                      </a:r>
                    </a:p>
                  </a:txBody>
                  <a:tcPr anchor="ctr">
                    <a:solidFill>
                      <a:srgbClr val="FFFFFF"/>
                    </a:solidFill>
                  </a:tcPr>
                </a:tc>
                <a:tc>
                  <a:txBody>
                    <a:bodyPr lIns="76200" rIns="50800" tIns="25400" bIns="25400"/>
                    <a:lstStyle/>
                    <a:p>
                      <a:pPr algn="ctr"/>
                      <a:r>
                        <a:rPr sz="1150" b="0">
                          <a:solidFill>
                            <a:srgbClr val="22272E"/>
                          </a:solidFill>
                          <a:latin typeface="Calibri"/>
                        </a:rPr>
                        <a:t>0.9237</a:t>
                      </a:r>
                    </a:p>
                  </a:txBody>
                  <a:tcPr anchor="ctr">
                    <a:solidFill>
                      <a:srgbClr val="FFFFFF"/>
                    </a:solidFill>
                  </a:tcPr>
                </a:tc>
                <a:tc>
                  <a:txBody>
                    <a:bodyPr lIns="76200" rIns="50800" tIns="25400" bIns="25400"/>
                    <a:lstStyle/>
                    <a:p>
                      <a:pPr algn="ctr"/>
                      <a:r>
                        <a:rPr sz="1150" b="0">
                          <a:solidFill>
                            <a:srgbClr val="22272E"/>
                          </a:solidFill>
                          <a:latin typeface="Calibri"/>
                        </a:rPr>
                        <a:t>0.9236</a:t>
                      </a:r>
                    </a:p>
                  </a:txBody>
                  <a:tcPr anchor="ctr">
                    <a:solidFill>
                      <a:srgbClr val="FFFFFF"/>
                    </a:solidFill>
                  </a:tcPr>
                </a:tc>
                <a:tc>
                  <a:txBody>
                    <a:bodyPr lIns="76200" rIns="50800" tIns="25400" bIns="25400"/>
                    <a:lstStyle/>
                    <a:p>
                      <a:pPr algn="ctr"/>
                      <a:r>
                        <a:rPr sz="1150" b="0">
                          <a:solidFill>
                            <a:srgbClr val="22272E"/>
                          </a:solidFill>
                          <a:latin typeface="Calibri"/>
                        </a:rPr>
                        <a:t>0.9236</a:t>
                      </a:r>
                    </a:p>
                  </a:txBody>
                  <a:tcPr anchor="ctr">
                    <a:solidFill>
                      <a:srgbClr val="FFFFFF"/>
                    </a:solidFill>
                  </a:tcPr>
                </a:tc>
                <a:tc>
                  <a:txBody>
                    <a:bodyPr lIns="76200" rIns="50800" tIns="25400" bIns="25400"/>
                    <a:lstStyle/>
                    <a:p>
                      <a:pPr algn="ctr"/>
                      <a:r>
                        <a:rPr sz="1150" b="0">
                          <a:solidFill>
                            <a:srgbClr val="22272E"/>
                          </a:solidFill>
                          <a:latin typeface="Calibri"/>
                        </a:rPr>
                        <a:t>0.9345</a:t>
                      </a:r>
                    </a:p>
                  </a:txBody>
                  <a:tcPr anchor="ctr">
                    <a:solidFill>
                      <a:srgbClr val="FFFFFF"/>
                    </a:solidFill>
                  </a:tcPr>
                </a:tc>
                <a:tc>
                  <a:txBody>
                    <a:bodyPr lIns="76200" rIns="50800" tIns="25400" bIns="25400"/>
                    <a:lstStyle/>
                    <a:p>
                      <a:pPr algn="ctr"/>
                      <a:r>
                        <a:rPr sz="1150" b="0">
                          <a:solidFill>
                            <a:srgbClr val="22272E"/>
                          </a:solidFill>
                          <a:latin typeface="Calibri"/>
                        </a:rPr>
                        <a:t>0.9931</a:t>
                      </a:r>
                    </a:p>
                  </a:txBody>
                  <a:tcPr anchor="ctr">
                    <a:solidFill>
                      <a:srgbClr val="FFFFFF"/>
                    </a:solidFill>
                  </a:tcPr>
                </a:tc>
              </a:tr>
            </a:tbl>
          </a:graphicData>
        </a:graphic>
      </p:graphicFrame>
      <p:sp>
        <p:nvSpPr>
          <p:cNvPr id="16" name="Rectangle 15"/>
          <p:cNvSpPr/>
          <p:nvPr/>
        </p:nvSpPr>
        <p:spPr>
          <a:xfrm>
            <a:off x="411480" y="467614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466344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8" name="TextBox 17"/>
          <p:cNvSpPr txBox="1"/>
          <p:nvPr/>
        </p:nvSpPr>
        <p:spPr>
          <a:xfrm>
            <a:off x="411480" y="4937760"/>
            <a:ext cx="4709160" cy="1188720"/>
          </a:xfrm>
          <a:prstGeom prst="rect">
            <a:avLst/>
          </a:prstGeom>
          <a:noFill/>
        </p:spPr>
        <p:txBody>
          <a:bodyPr wrap="square" anchor="t" lIns="0" rIns="0" tIns="0" bIns="0">
            <a:spAutoFit/>
          </a:bodyPr>
          <a:lstStyle/>
          <a:p>
            <a:pPr algn="l"/>
            <a:r>
              <a:rPr sz="1050" b="0" i="0">
                <a:solidFill>
                  <a:srgbClr val="22272E"/>
                </a:solidFill>
                <a:latin typeface="Calibri"/>
              </a:rPr>
              <a:t>SVM with an RBF kernel is the best-performing model in the classification track on every metric. The non-linear kernel resolves curved overlap between SIRA and DERMASON better than any linear model.</a:t>
            </a:r>
          </a:p>
        </p:txBody>
      </p:sp>
      <p:pic>
        <p:nvPicPr>
          <p:cNvPr id="19" name="Picture 18" descr="cell47_15_Model_5_Support_Vector_Machine_SVM_SVC__1.png"/>
          <p:cNvPicPr>
            <a:picLocks noChangeAspect="1"/>
          </p:cNvPicPr>
          <p:nvPr/>
        </p:nvPicPr>
        <p:blipFill>
          <a:blip r:embed="rId2"/>
          <a:stretch>
            <a:fillRect/>
          </a:stretch>
        </p:blipFill>
        <p:spPr>
          <a:xfrm>
            <a:off x="7035768" y="1207008"/>
            <a:ext cx="3164903" cy="2486709"/>
          </a:xfrm>
          <a:prstGeom prst="rect">
            <a:avLst/>
          </a:prstGeom>
        </p:spPr>
      </p:pic>
      <p:pic>
        <p:nvPicPr>
          <p:cNvPr id="20" name="Picture 19" descr="cell54_18_Multiclass_ROC_Curves_Top_Model_SVC__0.png"/>
          <p:cNvPicPr>
            <a:picLocks noChangeAspect="1"/>
          </p:cNvPicPr>
          <p:nvPr/>
        </p:nvPicPr>
        <p:blipFill>
          <a:blip r:embed="rId3"/>
          <a:stretch>
            <a:fillRect/>
          </a:stretch>
        </p:blipFill>
        <p:spPr>
          <a:xfrm>
            <a:off x="6896652" y="3748582"/>
            <a:ext cx="3443136" cy="2486710"/>
          </a:xfrm>
          <a:prstGeom prst="rect">
            <a:avLst/>
          </a:prstGeom>
        </p:spPr>
      </p:pic>
      <p:sp>
        <p:nvSpPr>
          <p:cNvPr id="21" name="TextBox 20"/>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confusion matrix (top) and one-vs-rest ROC curves (bottom)</a:t>
            </a:r>
          </a:p>
        </p:txBody>
      </p:sp>
      <p:pic>
        <p:nvPicPr>
          <p:cNvPr id="22" name="Picture 21" descr="1.png"/>
          <p:cNvPicPr>
            <a:picLocks noChangeAspect="1"/>
          </p:cNvPicPr>
          <p:nvPr/>
        </p:nvPicPr>
        <p:blipFill>
          <a:blip r:embed="rId4"/>
          <a:stretch>
            <a:fillRect/>
          </a:stretch>
        </p:blipFill>
        <p:spPr>
          <a:xfrm>
            <a:off x="411480" y="6528816"/>
            <a:ext cx="274320" cy="274320"/>
          </a:xfrm>
          <a:prstGeom prst="rect">
            <a:avLst/>
          </a:prstGeom>
        </p:spPr>
      </p:pic>
      <p:sp>
        <p:nvSpPr>
          <p:cNvPr id="23" name="TextBox 22"/>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24" name="TextBox 23"/>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CLASSIFICATION TRACK — DRY BEAN VARIETY CLASSIFICATION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Final Model Comparison &amp; Ranking</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Summary</a:t>
            </a:r>
          </a:p>
        </p:txBody>
      </p:sp>
      <p:sp>
        <p:nvSpPr>
          <p:cNvPr id="7" name="Rectangle 6"/>
          <p:cNvSpPr/>
          <p:nvPr/>
        </p:nvSpPr>
        <p:spPr>
          <a:xfrm>
            <a:off x="411480" y="1219708"/>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207008"/>
            <a:ext cx="4206240" cy="256032"/>
          </a:xfrm>
          <a:prstGeom prst="rect">
            <a:avLst/>
          </a:prstGeom>
          <a:noFill/>
        </p:spPr>
        <p:txBody>
          <a:bodyPr wrap="square" anchor="t" lIns="0" rIns="0" tIns="0" bIns="0">
            <a:spAutoFit/>
          </a:bodyPr>
          <a:lstStyle/>
          <a:p>
            <a:pPr algn="l"/>
            <a:r>
              <a:rPr sz="1250" b="1" i="0">
                <a:solidFill>
                  <a:srgbClr val="1B2636"/>
                </a:solidFill>
                <a:latin typeface="Calibri"/>
              </a:rPr>
              <a:t>FINAL RANKING (HELD-OUT TEST SET)</a:t>
            </a:r>
          </a:p>
        </p:txBody>
      </p:sp>
      <p:graphicFrame>
        <p:nvGraphicFramePr>
          <p:cNvPr id="9" name="Table 8"/>
          <p:cNvGraphicFramePr>
            <a:graphicFrameLocks noGrp="1"/>
          </p:cNvGraphicFramePr>
          <p:nvPr/>
        </p:nvGraphicFramePr>
        <p:xfrm>
          <a:off x="411480" y="1517904"/>
          <a:ext cx="4709156" cy="1755648"/>
        </p:xfrm>
        <a:graphic>
          <a:graphicData uri="http://schemas.openxmlformats.org/drawingml/2006/table">
            <a:tbl>
              <a:tblPr firstRow="1">
                <a:tableStyleId>{5C22544A-7EE6-4342-B048-85BDC9FD1C3A}</a:tableStyleId>
              </a:tblPr>
              <a:tblGrid>
                <a:gridCol w="1670992"/>
                <a:gridCol w="759541"/>
                <a:gridCol w="759541"/>
                <a:gridCol w="759541"/>
                <a:gridCol w="759541"/>
              </a:tblGrid>
              <a:tr h="292608">
                <a:tc>
                  <a:txBody>
                    <a:bodyPr lIns="76200" rIns="50800" tIns="38100" bIns="38100"/>
                    <a:lstStyle/>
                    <a:p>
                      <a:pPr algn="l"/>
                      <a:r>
                        <a:rPr sz="1100" b="1">
                          <a:solidFill>
                            <a:srgbClr val="FFFFFF"/>
                          </a:solidFill>
                          <a:latin typeface="Calibri"/>
                        </a:rPr>
                        <a:t>Model</a:t>
                      </a:r>
                    </a:p>
                  </a:txBody>
                  <a:tcPr anchor="ctr">
                    <a:solidFill>
                      <a:srgbClr val="0F6B63"/>
                    </a:solidFill>
                  </a:tcPr>
                </a:tc>
                <a:tc>
                  <a:txBody>
                    <a:bodyPr lIns="76200" rIns="50800" tIns="38100" bIns="38100"/>
                    <a:lstStyle/>
                    <a:p>
                      <a:pPr algn="ctr"/>
                      <a:r>
                        <a:rPr sz="1100" b="1">
                          <a:solidFill>
                            <a:srgbClr val="FFFFFF"/>
                          </a:solidFill>
                          <a:latin typeface="Calibri"/>
                        </a:rPr>
                        <a:t>Accuracy</a:t>
                      </a:r>
                    </a:p>
                  </a:txBody>
                  <a:tcPr anchor="ctr">
                    <a:solidFill>
                      <a:srgbClr val="0F6B63"/>
                    </a:solidFill>
                  </a:tcPr>
                </a:tc>
                <a:tc>
                  <a:txBody>
                    <a:bodyPr lIns="76200" rIns="50800" tIns="38100" bIns="38100"/>
                    <a:lstStyle/>
                    <a:p>
                      <a:pPr algn="ctr"/>
                      <a:r>
                        <a:rPr sz="1100" b="1">
                          <a:solidFill>
                            <a:srgbClr val="FFFFFF"/>
                          </a:solidFill>
                          <a:latin typeface="Calibri"/>
                        </a:rPr>
                        <a:t>F1 (w)</a:t>
                      </a:r>
                    </a:p>
                  </a:txBody>
                  <a:tcPr anchor="ctr">
                    <a:solidFill>
                      <a:srgbClr val="0F6B63"/>
                    </a:solidFill>
                  </a:tcPr>
                </a:tc>
                <a:tc>
                  <a:txBody>
                    <a:bodyPr lIns="76200" rIns="50800" tIns="38100" bIns="38100"/>
                    <a:lstStyle/>
                    <a:p>
                      <a:pPr algn="ctr"/>
                      <a:r>
                        <a:rPr sz="1100" b="1">
                          <a:solidFill>
                            <a:srgbClr val="FFFFFF"/>
                          </a:solidFill>
                          <a:latin typeface="Calibri"/>
                        </a:rPr>
                        <a:t>F1 (macro)</a:t>
                      </a:r>
                    </a:p>
                  </a:txBody>
                  <a:tcPr anchor="ctr">
                    <a:solidFill>
                      <a:srgbClr val="0F6B63"/>
                    </a:solidFill>
                  </a:tcPr>
                </a:tc>
                <a:tc>
                  <a:txBody>
                    <a:bodyPr lIns="76200" rIns="50800" tIns="38100" bIns="38100"/>
                    <a:lstStyle/>
                    <a:p>
                      <a:pPr algn="ctr"/>
                      <a:r>
                        <a:rPr sz="1100" b="1">
                          <a:solidFill>
                            <a:srgbClr val="FFFFFF"/>
                          </a:solidFill>
                          <a:latin typeface="Calibri"/>
                        </a:rPr>
                        <a:t>ROC-AUC</a:t>
                      </a:r>
                    </a:p>
                  </a:txBody>
                  <a:tcPr anchor="ctr">
                    <a:solidFill>
                      <a:srgbClr val="0F6B63"/>
                    </a:solidFill>
                  </a:tcPr>
                </a:tc>
              </a:tr>
              <a:tr h="292608">
                <a:tc>
                  <a:txBody>
                    <a:bodyPr lIns="76200" rIns="50800" tIns="25400" bIns="25400"/>
                    <a:lstStyle/>
                    <a:p>
                      <a:pPr algn="l"/>
                      <a:r>
                        <a:rPr sz="1050" b="1">
                          <a:solidFill>
                            <a:srgbClr val="22272E"/>
                          </a:solidFill>
                          <a:latin typeface="Calibri"/>
                        </a:rPr>
                        <a:t>SVM (RBF, C=10)</a:t>
                      </a:r>
                    </a:p>
                  </a:txBody>
                  <a:tcPr anchor="ctr">
                    <a:solidFill>
                      <a:srgbClr val="FFFFFF"/>
                    </a:solidFill>
                  </a:tcPr>
                </a:tc>
                <a:tc>
                  <a:txBody>
                    <a:bodyPr lIns="76200" rIns="50800" tIns="25400" bIns="25400"/>
                    <a:lstStyle/>
                    <a:p>
                      <a:pPr algn="ctr"/>
                      <a:r>
                        <a:rPr sz="1150" b="0">
                          <a:solidFill>
                            <a:srgbClr val="22272E"/>
                          </a:solidFill>
                          <a:latin typeface="Calibri"/>
                        </a:rPr>
                        <a:t>0.9236</a:t>
                      </a:r>
                    </a:p>
                  </a:txBody>
                  <a:tcPr anchor="ctr">
                    <a:solidFill>
                      <a:srgbClr val="FFFFFF"/>
                    </a:solidFill>
                  </a:tcPr>
                </a:tc>
                <a:tc>
                  <a:txBody>
                    <a:bodyPr lIns="76200" rIns="50800" tIns="25400" bIns="25400"/>
                    <a:lstStyle/>
                    <a:p>
                      <a:pPr algn="ctr"/>
                      <a:r>
                        <a:rPr sz="1150" b="0">
                          <a:solidFill>
                            <a:srgbClr val="22272E"/>
                          </a:solidFill>
                          <a:latin typeface="Calibri"/>
                        </a:rPr>
                        <a:t>0.9236</a:t>
                      </a:r>
                    </a:p>
                  </a:txBody>
                  <a:tcPr anchor="ctr">
                    <a:solidFill>
                      <a:srgbClr val="FFFFFF"/>
                    </a:solidFill>
                  </a:tcPr>
                </a:tc>
                <a:tc>
                  <a:txBody>
                    <a:bodyPr lIns="76200" rIns="50800" tIns="25400" bIns="25400"/>
                    <a:lstStyle/>
                    <a:p>
                      <a:pPr algn="ctr"/>
                      <a:r>
                        <a:rPr sz="1150" b="0">
                          <a:solidFill>
                            <a:srgbClr val="22272E"/>
                          </a:solidFill>
                          <a:latin typeface="Calibri"/>
                        </a:rPr>
                        <a:t>0.9345</a:t>
                      </a:r>
                    </a:p>
                  </a:txBody>
                  <a:tcPr anchor="ctr">
                    <a:solidFill>
                      <a:srgbClr val="FFFFFF"/>
                    </a:solidFill>
                  </a:tcPr>
                </a:tc>
                <a:tc>
                  <a:txBody>
                    <a:bodyPr lIns="76200" rIns="50800" tIns="25400" bIns="25400"/>
                    <a:lstStyle/>
                    <a:p>
                      <a:pPr algn="ctr"/>
                      <a:r>
                        <a:rPr sz="1150" b="0">
                          <a:solidFill>
                            <a:srgbClr val="22272E"/>
                          </a:solidFill>
                          <a:latin typeface="Calibri"/>
                        </a:rPr>
                        <a:t>0.9931</a:t>
                      </a:r>
                    </a:p>
                  </a:txBody>
                  <a:tcPr anchor="ctr">
                    <a:solidFill>
                      <a:srgbClr val="FFFFFF"/>
                    </a:solidFill>
                  </a:tcPr>
                </a:tc>
              </a:tr>
              <a:tr h="292608">
                <a:tc>
                  <a:txBody>
                    <a:bodyPr lIns="76200" rIns="50800" tIns="25400" bIns="25400"/>
                    <a:lstStyle/>
                    <a:p>
                      <a:pPr algn="l"/>
                      <a:r>
                        <a:rPr sz="1050" b="1">
                          <a:solidFill>
                            <a:srgbClr val="22272E"/>
                          </a:solidFill>
                          <a:latin typeface="Calibri"/>
                        </a:rPr>
                        <a:t>Logistic Regression</a:t>
                      </a:r>
                    </a:p>
                  </a:txBody>
                  <a:tcPr anchor="ctr">
                    <a:solidFill>
                      <a:srgbClr val="F4F6F8"/>
                    </a:solidFill>
                  </a:tcPr>
                </a:tc>
                <a:tc>
                  <a:txBody>
                    <a:bodyPr lIns="76200" rIns="50800" tIns="25400" bIns="25400"/>
                    <a:lstStyle/>
                    <a:p>
                      <a:pPr algn="ctr"/>
                      <a:r>
                        <a:rPr sz="1150" b="0">
                          <a:solidFill>
                            <a:srgbClr val="22272E"/>
                          </a:solidFill>
                          <a:latin typeface="Calibri"/>
                        </a:rPr>
                        <a:t>0.9206</a:t>
                      </a:r>
                    </a:p>
                  </a:txBody>
                  <a:tcPr anchor="ctr">
                    <a:solidFill>
                      <a:srgbClr val="F4F6F8"/>
                    </a:solidFill>
                  </a:tcPr>
                </a:tc>
                <a:tc>
                  <a:txBody>
                    <a:bodyPr lIns="76200" rIns="50800" tIns="25400" bIns="25400"/>
                    <a:lstStyle/>
                    <a:p>
                      <a:pPr algn="ctr"/>
                      <a:r>
                        <a:rPr sz="1150" b="0">
                          <a:solidFill>
                            <a:srgbClr val="22272E"/>
                          </a:solidFill>
                          <a:latin typeface="Calibri"/>
                        </a:rPr>
                        <a:t>0.9208</a:t>
                      </a:r>
                    </a:p>
                  </a:txBody>
                  <a:tcPr anchor="ctr">
                    <a:solidFill>
                      <a:srgbClr val="F4F6F8"/>
                    </a:solidFill>
                  </a:tcPr>
                </a:tc>
                <a:tc>
                  <a:txBody>
                    <a:bodyPr lIns="76200" rIns="50800" tIns="25400" bIns="25400"/>
                    <a:lstStyle/>
                    <a:p>
                      <a:pPr algn="ctr"/>
                      <a:r>
                        <a:rPr sz="1150" b="0">
                          <a:solidFill>
                            <a:srgbClr val="22272E"/>
                          </a:solidFill>
                          <a:latin typeface="Calibri"/>
                        </a:rPr>
                        <a:t>0.9311</a:t>
                      </a:r>
                    </a:p>
                  </a:txBody>
                  <a:tcPr anchor="ctr">
                    <a:solidFill>
                      <a:srgbClr val="F4F6F8"/>
                    </a:solidFill>
                  </a:tcPr>
                </a:tc>
                <a:tc>
                  <a:txBody>
                    <a:bodyPr lIns="76200" rIns="50800" tIns="25400" bIns="25400"/>
                    <a:lstStyle/>
                    <a:p>
                      <a:pPr algn="ctr"/>
                      <a:r>
                        <a:rPr sz="1150" b="0">
                          <a:solidFill>
                            <a:srgbClr val="22272E"/>
                          </a:solidFill>
                          <a:latin typeface="Calibri"/>
                        </a:rPr>
                        <a:t>0.9936</a:t>
                      </a:r>
                    </a:p>
                  </a:txBody>
                  <a:tcPr anchor="ctr">
                    <a:solidFill>
                      <a:srgbClr val="F4F6F8"/>
                    </a:solidFill>
                  </a:tcPr>
                </a:tc>
              </a:tr>
              <a:tr h="292608">
                <a:tc>
                  <a:txBody>
                    <a:bodyPr lIns="76200" rIns="50800" tIns="25400" bIns="25400"/>
                    <a:lstStyle/>
                    <a:p>
                      <a:pPr algn="l"/>
                      <a:r>
                        <a:rPr sz="1050" b="1">
                          <a:solidFill>
                            <a:srgbClr val="22272E"/>
                          </a:solidFill>
                          <a:latin typeface="Calibri"/>
                        </a:rPr>
                        <a:t>KNN (k=13)</a:t>
                      </a:r>
                    </a:p>
                  </a:txBody>
                  <a:tcPr anchor="ctr">
                    <a:solidFill>
                      <a:srgbClr val="FFFFFF"/>
                    </a:solidFill>
                  </a:tcPr>
                </a:tc>
                <a:tc>
                  <a:txBody>
                    <a:bodyPr lIns="76200" rIns="50800" tIns="25400" bIns="25400"/>
                    <a:lstStyle/>
                    <a:p>
                      <a:pPr algn="ctr"/>
                      <a:r>
                        <a:rPr sz="1150" b="0">
                          <a:solidFill>
                            <a:srgbClr val="22272E"/>
                          </a:solidFill>
                          <a:latin typeface="Calibri"/>
                        </a:rPr>
                        <a:t>0.9169</a:t>
                      </a:r>
                    </a:p>
                  </a:txBody>
                  <a:tcPr anchor="ctr">
                    <a:solidFill>
                      <a:srgbClr val="FFFFFF"/>
                    </a:solidFill>
                  </a:tcPr>
                </a:tc>
                <a:tc>
                  <a:txBody>
                    <a:bodyPr lIns="76200" rIns="50800" tIns="25400" bIns="25400"/>
                    <a:lstStyle/>
                    <a:p>
                      <a:pPr algn="ctr"/>
                      <a:r>
                        <a:rPr sz="1150" b="0">
                          <a:solidFill>
                            <a:srgbClr val="22272E"/>
                          </a:solidFill>
                          <a:latin typeface="Calibri"/>
                        </a:rPr>
                        <a:t>0.9171</a:t>
                      </a:r>
                    </a:p>
                  </a:txBody>
                  <a:tcPr anchor="ctr">
                    <a:solidFill>
                      <a:srgbClr val="FFFFFF"/>
                    </a:solidFill>
                  </a:tcPr>
                </a:tc>
                <a:tc>
                  <a:txBody>
                    <a:bodyPr lIns="76200" rIns="50800" tIns="25400" bIns="25400"/>
                    <a:lstStyle/>
                    <a:p>
                      <a:pPr algn="ctr"/>
                      <a:r>
                        <a:rPr sz="1150" b="0">
                          <a:solidFill>
                            <a:srgbClr val="22272E"/>
                          </a:solidFill>
                          <a:latin typeface="Calibri"/>
                        </a:rPr>
                        <a:t>0.9293</a:t>
                      </a:r>
                    </a:p>
                  </a:txBody>
                  <a:tcPr anchor="ctr">
                    <a:solidFill>
                      <a:srgbClr val="FFFFFF"/>
                    </a:solidFill>
                  </a:tcPr>
                </a:tc>
                <a:tc>
                  <a:txBody>
                    <a:bodyPr lIns="76200" rIns="50800" tIns="25400" bIns="25400"/>
                    <a:lstStyle/>
                    <a:p>
                      <a:pPr algn="ctr"/>
                      <a:r>
                        <a:rPr sz="1150" b="0">
                          <a:solidFill>
                            <a:srgbClr val="22272E"/>
                          </a:solidFill>
                          <a:latin typeface="Calibri"/>
                        </a:rPr>
                        <a:t>0.9880</a:t>
                      </a:r>
                    </a:p>
                  </a:txBody>
                  <a:tcPr anchor="ctr">
                    <a:solidFill>
                      <a:srgbClr val="FFFFFF"/>
                    </a:solidFill>
                  </a:tcPr>
                </a:tc>
              </a:tr>
              <a:tr h="292608">
                <a:tc>
                  <a:txBody>
                    <a:bodyPr lIns="76200" rIns="50800" tIns="25400" bIns="25400"/>
                    <a:lstStyle/>
                    <a:p>
                      <a:pPr algn="l"/>
                      <a:r>
                        <a:rPr sz="1050" b="1">
                          <a:solidFill>
                            <a:srgbClr val="22272E"/>
                          </a:solidFill>
                          <a:latin typeface="Calibri"/>
                        </a:rPr>
                        <a:t>Decision Tree</a:t>
                      </a:r>
                    </a:p>
                  </a:txBody>
                  <a:tcPr anchor="ctr">
                    <a:solidFill>
                      <a:srgbClr val="F4F6F8"/>
                    </a:solidFill>
                  </a:tcPr>
                </a:tc>
                <a:tc>
                  <a:txBody>
                    <a:bodyPr lIns="76200" rIns="50800" tIns="25400" bIns="25400"/>
                    <a:lstStyle/>
                    <a:p>
                      <a:pPr algn="ctr"/>
                      <a:r>
                        <a:rPr sz="1150" b="0">
                          <a:solidFill>
                            <a:srgbClr val="22272E"/>
                          </a:solidFill>
                          <a:latin typeface="Calibri"/>
                        </a:rPr>
                        <a:t>0.9051</a:t>
                      </a:r>
                    </a:p>
                  </a:txBody>
                  <a:tcPr anchor="ctr">
                    <a:solidFill>
                      <a:srgbClr val="F4F6F8"/>
                    </a:solidFill>
                  </a:tcPr>
                </a:tc>
                <a:tc>
                  <a:txBody>
                    <a:bodyPr lIns="76200" rIns="50800" tIns="25400" bIns="25400"/>
                    <a:lstStyle/>
                    <a:p>
                      <a:pPr algn="ctr"/>
                      <a:r>
                        <a:rPr sz="1150" b="0">
                          <a:solidFill>
                            <a:srgbClr val="22272E"/>
                          </a:solidFill>
                          <a:latin typeface="Calibri"/>
                        </a:rPr>
                        <a:t>0.9049</a:t>
                      </a:r>
                    </a:p>
                  </a:txBody>
                  <a:tcPr anchor="ctr">
                    <a:solidFill>
                      <a:srgbClr val="F4F6F8"/>
                    </a:solidFill>
                  </a:tcPr>
                </a:tc>
                <a:tc>
                  <a:txBody>
                    <a:bodyPr lIns="76200" rIns="50800" tIns="25400" bIns="25400"/>
                    <a:lstStyle/>
                    <a:p>
                      <a:pPr algn="ctr"/>
                      <a:r>
                        <a:rPr sz="1150" b="0">
                          <a:solidFill>
                            <a:srgbClr val="22272E"/>
                          </a:solidFill>
                          <a:latin typeface="Calibri"/>
                        </a:rPr>
                        <a:t>0.9187</a:t>
                      </a:r>
                    </a:p>
                  </a:txBody>
                  <a:tcPr anchor="ctr">
                    <a:solidFill>
                      <a:srgbClr val="F4F6F8"/>
                    </a:solidFill>
                  </a:tcPr>
                </a:tc>
                <a:tc>
                  <a:txBody>
                    <a:bodyPr lIns="76200" rIns="50800" tIns="25400" bIns="25400"/>
                    <a:lstStyle/>
                    <a:p>
                      <a:pPr algn="ctr"/>
                      <a:r>
                        <a:rPr sz="1150" b="0">
                          <a:solidFill>
                            <a:srgbClr val="22272E"/>
                          </a:solidFill>
                          <a:latin typeface="Calibri"/>
                        </a:rPr>
                        <a:t>0.9629</a:t>
                      </a:r>
                    </a:p>
                  </a:txBody>
                  <a:tcPr anchor="ctr">
                    <a:solidFill>
                      <a:srgbClr val="F4F6F8"/>
                    </a:solidFill>
                  </a:tcPr>
                </a:tc>
              </a:tr>
              <a:tr h="292608">
                <a:tc>
                  <a:txBody>
                    <a:bodyPr lIns="76200" rIns="50800" tIns="25400" bIns="25400"/>
                    <a:lstStyle/>
                    <a:p>
                      <a:pPr algn="l"/>
                      <a:r>
                        <a:rPr sz="1050" b="1">
                          <a:solidFill>
                            <a:srgbClr val="22272E"/>
                          </a:solidFill>
                          <a:latin typeface="Calibri"/>
                        </a:rPr>
                        <a:t>Naive Bayes (Gaussian)</a:t>
                      </a:r>
                    </a:p>
                  </a:txBody>
                  <a:tcPr anchor="ctr">
                    <a:solidFill>
                      <a:srgbClr val="FFFFFF"/>
                    </a:solidFill>
                  </a:tcPr>
                </a:tc>
                <a:tc>
                  <a:txBody>
                    <a:bodyPr lIns="76200" rIns="50800" tIns="25400" bIns="25400"/>
                    <a:lstStyle/>
                    <a:p>
                      <a:pPr algn="ctr"/>
                      <a:r>
                        <a:rPr sz="1150" b="0">
                          <a:solidFill>
                            <a:srgbClr val="22272E"/>
                          </a:solidFill>
                          <a:latin typeface="Calibri"/>
                        </a:rPr>
                        <a:t>0.7545</a:t>
                      </a:r>
                    </a:p>
                  </a:txBody>
                  <a:tcPr anchor="ctr">
                    <a:solidFill>
                      <a:srgbClr val="FFFFFF"/>
                    </a:solidFill>
                  </a:tcPr>
                </a:tc>
                <a:tc>
                  <a:txBody>
                    <a:bodyPr lIns="76200" rIns="50800" tIns="25400" bIns="25400"/>
                    <a:lstStyle/>
                    <a:p>
                      <a:pPr algn="ctr"/>
                      <a:r>
                        <a:rPr sz="1150" b="0">
                          <a:solidFill>
                            <a:srgbClr val="22272E"/>
                          </a:solidFill>
                          <a:latin typeface="Calibri"/>
                        </a:rPr>
                        <a:t>0.7521</a:t>
                      </a:r>
                    </a:p>
                  </a:txBody>
                  <a:tcPr anchor="ctr">
                    <a:solidFill>
                      <a:srgbClr val="FFFFFF"/>
                    </a:solidFill>
                  </a:tcPr>
                </a:tc>
                <a:tc>
                  <a:txBody>
                    <a:bodyPr lIns="76200" rIns="50800" tIns="25400" bIns="25400"/>
                    <a:lstStyle/>
                    <a:p>
                      <a:pPr algn="ctr"/>
                      <a:r>
                        <a:rPr sz="1150" b="0">
                          <a:solidFill>
                            <a:srgbClr val="22272E"/>
                          </a:solidFill>
                          <a:latin typeface="Calibri"/>
                        </a:rPr>
                        <a:t>0.7571</a:t>
                      </a:r>
                    </a:p>
                  </a:txBody>
                  <a:tcPr anchor="ctr">
                    <a:solidFill>
                      <a:srgbClr val="FFFFFF"/>
                    </a:solidFill>
                  </a:tcPr>
                </a:tc>
                <a:tc>
                  <a:txBody>
                    <a:bodyPr lIns="76200" rIns="50800" tIns="25400" bIns="25400"/>
                    <a:lstStyle/>
                    <a:p>
                      <a:pPr algn="ctr"/>
                      <a:r>
                        <a:rPr sz="1150" b="0">
                          <a:solidFill>
                            <a:srgbClr val="22272E"/>
                          </a:solidFill>
                          <a:latin typeface="Calibri"/>
                        </a:rPr>
                        <a:t>0.9622</a:t>
                      </a:r>
                    </a:p>
                  </a:txBody>
                  <a:tcPr anchor="ctr">
                    <a:solidFill>
                      <a:srgbClr val="FFFFFF"/>
                    </a:solidFill>
                  </a:tcPr>
                </a:tc>
              </a:tr>
            </a:tbl>
          </a:graphicData>
        </a:graphic>
      </p:graphicFrame>
      <p:sp>
        <p:nvSpPr>
          <p:cNvPr id="10" name="Rectangle 9"/>
          <p:cNvSpPr/>
          <p:nvPr/>
        </p:nvSpPr>
        <p:spPr>
          <a:xfrm>
            <a:off x="411480" y="3487420"/>
            <a:ext cx="82296" cy="146304"/>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3474720"/>
            <a:ext cx="4206240" cy="256032"/>
          </a:xfrm>
          <a:prstGeom prst="rect">
            <a:avLst/>
          </a:prstGeom>
          <a:noFill/>
        </p:spPr>
        <p:txBody>
          <a:bodyPr wrap="square" anchor="t" lIns="0" rIns="0" tIns="0" bIns="0">
            <a:spAutoFit/>
          </a:bodyPr>
          <a:lstStyle/>
          <a:p>
            <a:pPr algn="l"/>
            <a:r>
              <a:rPr sz="1250" b="1" i="0">
                <a:solidFill>
                  <a:srgbClr val="1B2636"/>
                </a:solidFill>
                <a:latin typeface="Calibri"/>
              </a:rPr>
              <a:t>OBSERVATION</a:t>
            </a:r>
          </a:p>
        </p:txBody>
      </p:sp>
      <p:sp>
        <p:nvSpPr>
          <p:cNvPr id="12" name="TextBox 11"/>
          <p:cNvSpPr txBox="1"/>
          <p:nvPr/>
        </p:nvSpPr>
        <p:spPr>
          <a:xfrm>
            <a:off x="411480" y="3749040"/>
            <a:ext cx="4709160" cy="1828800"/>
          </a:xfrm>
          <a:prstGeom prst="rect">
            <a:avLst/>
          </a:prstGeom>
          <a:noFill/>
        </p:spPr>
        <p:txBody>
          <a:bodyPr wrap="square" anchor="t" lIns="0" rIns="0" tIns="0" bIns="0">
            <a:spAutoFit/>
          </a:bodyPr>
          <a:lstStyle/>
          <a:p>
            <a:pPr algn="l"/>
            <a:r>
              <a:rPr sz="1080" b="0" i="0">
                <a:solidFill>
                  <a:srgbClr val="22272E"/>
                </a:solidFill>
                <a:latin typeface="Calibri"/>
              </a:rPr>
              <a:t>Four of the five Part-A classifiers exceed 90% test accuracy, confirming that morphological features are highly discriminative for cultivar identification. SVM with an RBF kernel is the best overall performer on accuracy, weighted F1 and macro F1, narrowly ahead of Logistic Regression's strong linear baseline. Naive Bayes trails substantially (75.45%) because its conditional-independence assumption is violated by highly correlated size features — though it still posts a strong 0.9622 ROC-AUC, showing its class ranking stays reasonable even as its calibrated accuracy suffers.</a:t>
            </a:r>
          </a:p>
        </p:txBody>
      </p:sp>
      <p:pic>
        <p:nvPicPr>
          <p:cNvPr id="13" name="Picture 12" descr="cell52_17_Comparative_Performance_Visualizations_0.png"/>
          <p:cNvPicPr>
            <a:picLocks noChangeAspect="1"/>
          </p:cNvPicPr>
          <p:nvPr/>
        </p:nvPicPr>
        <p:blipFill>
          <a:blip r:embed="rId2"/>
          <a:stretch>
            <a:fillRect/>
          </a:stretch>
        </p:blipFill>
        <p:spPr>
          <a:xfrm>
            <a:off x="5440680" y="2751487"/>
            <a:ext cx="6355080" cy="1985962"/>
          </a:xfrm>
          <a:prstGeom prst="rect">
            <a:avLst/>
          </a:prstGeom>
        </p:spPr>
      </p:pic>
      <p:sp>
        <p:nvSpPr>
          <p:cNvPr id="14" name="TextBox 13"/>
          <p:cNvSpPr txBox="1"/>
          <p:nvPr/>
        </p:nvSpPr>
        <p:spPr>
          <a:xfrm>
            <a:off x="5440680" y="6355080"/>
            <a:ext cx="6355080" cy="274320"/>
          </a:xfrm>
          <a:prstGeom prst="rect">
            <a:avLst/>
          </a:prstGeom>
          <a:noFill/>
        </p:spPr>
        <p:txBody>
          <a:bodyPr wrap="square" anchor="t" lIns="0" rIns="0" tIns="0" bIns="0">
            <a:spAutoFit/>
          </a:bodyPr>
          <a:lstStyle/>
          <a:p>
            <a:pPr algn="ctr"/>
            <a:r>
              <a:rPr sz="900" b="0" i="1">
                <a:solidFill>
                  <a:srgbClr val="8A939E"/>
                </a:solidFill>
                <a:latin typeface="Calibri"/>
              </a:rPr>
              <a:t>Actual output — classification.ipynb, comparative accuracy/F1/ROC-AUC across all 5 Part-A models</a:t>
            </a:r>
          </a:p>
        </p:txBody>
      </p:sp>
      <p:pic>
        <p:nvPicPr>
          <p:cNvPr id="15" name="Picture 14" descr="1.png"/>
          <p:cNvPicPr>
            <a:picLocks noChangeAspect="1"/>
          </p:cNvPicPr>
          <p:nvPr/>
        </p:nvPicPr>
        <p:blipFill>
          <a:blip r:embed="rId3"/>
          <a:stretch>
            <a:fillRect/>
          </a:stretch>
        </p:blipFill>
        <p:spPr>
          <a:xfrm>
            <a:off x="411480" y="6528816"/>
            <a:ext cx="274320" cy="274320"/>
          </a:xfrm>
          <a:prstGeom prst="rect">
            <a:avLst/>
          </a:prstGeom>
        </p:spPr>
      </p:pic>
      <p:sp>
        <p:nvSpPr>
          <p:cNvPr id="16" name="TextBox 15"/>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17" name="TextBox 16"/>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9E1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8686800" cy="292608"/>
          </a:xfrm>
          <a:prstGeom prst="rect">
            <a:avLst/>
          </a:prstGeom>
          <a:noFill/>
        </p:spPr>
        <p:txBody>
          <a:bodyPr wrap="square" anchor="t" lIns="0" rIns="0" tIns="0" bIns="0">
            <a:spAutoFit/>
          </a:bodyPr>
          <a:lstStyle/>
          <a:p>
            <a:pPr algn="l"/>
            <a:r>
              <a:rPr sz="1100" b="1" i="0">
                <a:solidFill>
                  <a:srgbClr val="B8C4D4"/>
                </a:solidFill>
                <a:latin typeface="Calibri"/>
              </a:rPr>
              <a:t>CONCLUSION</a:t>
            </a:r>
          </a:p>
        </p:txBody>
      </p:sp>
      <p:sp>
        <p:nvSpPr>
          <p:cNvPr id="5" name="TextBox 4"/>
          <p:cNvSpPr txBox="1"/>
          <p:nvPr/>
        </p:nvSpPr>
        <p:spPr>
          <a:xfrm>
            <a:off x="411480" y="365760"/>
            <a:ext cx="9601200" cy="548640"/>
          </a:xfrm>
          <a:prstGeom prst="rect">
            <a:avLst/>
          </a:prstGeom>
          <a:noFill/>
        </p:spPr>
        <p:txBody>
          <a:bodyPr wrap="square" anchor="t" lIns="0" rIns="0" tIns="0" bIns="0">
            <a:spAutoFit/>
          </a:bodyPr>
          <a:lstStyle/>
          <a:p>
            <a:pPr algn="l"/>
            <a:r>
              <a:rPr sz="2700" b="1" i="0">
                <a:solidFill>
                  <a:srgbClr val="FFFFFF"/>
                </a:solidFill>
                <a:latin typeface="Calibri"/>
              </a:rPr>
              <a:t>Key Takeaways</a:t>
            </a:r>
          </a:p>
        </p:txBody>
      </p:sp>
      <p:sp>
        <p:nvSpPr>
          <p:cNvPr id="6" name="TextBox 5"/>
          <p:cNvSpPr txBox="1"/>
          <p:nvPr/>
        </p:nvSpPr>
        <p:spPr>
          <a:xfrm>
            <a:off x="10195560" y="310896"/>
            <a:ext cx="1600200" cy="365760"/>
          </a:xfrm>
          <a:prstGeom prst="rect">
            <a:avLst/>
          </a:prstGeom>
          <a:noFill/>
        </p:spPr>
        <p:txBody>
          <a:bodyPr wrap="square" anchor="t" lIns="0" rIns="0" tIns="0" bIns="0">
            <a:spAutoFit/>
          </a:bodyPr>
          <a:lstStyle/>
          <a:p>
            <a:pPr algn="r"/>
            <a:r>
              <a:rPr sz="1300" b="1" i="0">
                <a:solidFill>
                  <a:srgbClr val="B8C4D4"/>
                </a:solidFill>
                <a:latin typeface="Calibri"/>
              </a:rPr>
              <a:t>Summary</a:t>
            </a:r>
          </a:p>
        </p:txBody>
      </p:sp>
      <p:sp>
        <p:nvSpPr>
          <p:cNvPr id="7" name="Rectangle 6"/>
          <p:cNvSpPr/>
          <p:nvPr/>
        </p:nvSpPr>
        <p:spPr>
          <a:xfrm>
            <a:off x="411480" y="1280160"/>
            <a:ext cx="5394960" cy="38404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53312"/>
            <a:ext cx="5029200" cy="256032"/>
          </a:xfrm>
          <a:prstGeom prst="rect">
            <a:avLst/>
          </a:prstGeom>
          <a:noFill/>
        </p:spPr>
        <p:txBody>
          <a:bodyPr wrap="square" anchor="t" lIns="0" rIns="0" tIns="0" bIns="0">
            <a:spAutoFit/>
          </a:bodyPr>
          <a:lstStyle/>
          <a:p>
            <a:pPr algn="l"/>
            <a:r>
              <a:rPr sz="1400" b="1" i="0">
                <a:solidFill>
                  <a:srgbClr val="FFFFFF"/>
                </a:solidFill>
                <a:latin typeface="Calibri"/>
              </a:rPr>
              <a:t>REGRESSION TRACK</a:t>
            </a:r>
          </a:p>
        </p:txBody>
      </p:sp>
      <p:sp>
        <p:nvSpPr>
          <p:cNvPr id="9" name="TextBox 8"/>
          <p:cNvSpPr txBox="1"/>
          <p:nvPr/>
        </p:nvSpPr>
        <p:spPr>
          <a:xfrm>
            <a:off x="411480" y="1828800"/>
            <a:ext cx="5394960" cy="219456"/>
          </a:xfrm>
          <a:prstGeom prst="rect">
            <a:avLst/>
          </a:prstGeom>
          <a:noFill/>
        </p:spPr>
        <p:txBody>
          <a:bodyPr wrap="square" anchor="t" lIns="0" rIns="0" tIns="0" bIns="0">
            <a:spAutoFit/>
          </a:bodyPr>
          <a:lstStyle/>
          <a:p>
            <a:pPr algn="l"/>
            <a:r>
              <a:rPr sz="1000" b="1" i="0">
                <a:solidFill>
                  <a:srgbClr val="1D4E89"/>
                </a:solidFill>
                <a:latin typeface="Calibri"/>
              </a:rPr>
              <a:t>BEST MODEL</a:t>
            </a:r>
          </a:p>
        </p:txBody>
      </p:sp>
      <p:sp>
        <p:nvSpPr>
          <p:cNvPr id="10" name="TextBox 9"/>
          <p:cNvSpPr txBox="1"/>
          <p:nvPr/>
        </p:nvSpPr>
        <p:spPr>
          <a:xfrm>
            <a:off x="411480" y="2057400"/>
            <a:ext cx="5394960" cy="457200"/>
          </a:xfrm>
          <a:prstGeom prst="rect">
            <a:avLst/>
          </a:prstGeom>
          <a:noFill/>
        </p:spPr>
        <p:txBody>
          <a:bodyPr wrap="square" anchor="t" lIns="0" rIns="0" tIns="0" bIns="0">
            <a:spAutoFit/>
          </a:bodyPr>
          <a:lstStyle/>
          <a:p>
            <a:pPr algn="l"/>
            <a:r>
              <a:rPr sz="1080" b="0" i="0">
                <a:solidFill>
                  <a:srgbClr val="22272E"/>
                </a:solidFill>
                <a:latin typeface="Calibri"/>
              </a:rPr>
              <a:t>Decision Tree Regressor — R² = 0.6210, RMSE = 36.12 s, MAE = 1.32 s (the only baseline with a strongly positive test R²).</a:t>
            </a:r>
          </a:p>
        </p:txBody>
      </p:sp>
      <p:sp>
        <p:nvSpPr>
          <p:cNvPr id="11" name="TextBox 10"/>
          <p:cNvSpPr txBox="1"/>
          <p:nvPr/>
        </p:nvSpPr>
        <p:spPr>
          <a:xfrm>
            <a:off x="411480" y="2569464"/>
            <a:ext cx="5394960" cy="219456"/>
          </a:xfrm>
          <a:prstGeom prst="rect">
            <a:avLst/>
          </a:prstGeom>
          <a:noFill/>
        </p:spPr>
        <p:txBody>
          <a:bodyPr wrap="square" anchor="t" lIns="0" rIns="0" tIns="0" bIns="0">
            <a:spAutoFit/>
          </a:bodyPr>
          <a:lstStyle/>
          <a:p>
            <a:pPr algn="l"/>
            <a:r>
              <a:rPr sz="1000" b="1" i="0">
                <a:solidFill>
                  <a:srgbClr val="1D4E89"/>
                </a:solidFill>
                <a:latin typeface="Calibri"/>
              </a:rPr>
              <a:t>WHY IT WINS</a:t>
            </a:r>
          </a:p>
        </p:txBody>
      </p:sp>
      <p:sp>
        <p:nvSpPr>
          <p:cNvPr id="12" name="TextBox 11"/>
          <p:cNvSpPr txBox="1"/>
          <p:nvPr/>
        </p:nvSpPr>
        <p:spPr>
          <a:xfrm>
            <a:off x="411480" y="2798064"/>
            <a:ext cx="5394960" cy="640080"/>
          </a:xfrm>
          <a:prstGeom prst="rect">
            <a:avLst/>
          </a:prstGeom>
          <a:noFill/>
        </p:spPr>
        <p:txBody>
          <a:bodyPr wrap="square" anchor="t" lIns="0" rIns="0" tIns="0" bIns="0">
            <a:spAutoFit/>
          </a:bodyPr>
          <a:lstStyle/>
          <a:p>
            <a:pPr algn="l"/>
            <a:r>
              <a:rPr sz="1080" b="0" i="0">
                <a:solidFill>
                  <a:srgbClr val="22272E"/>
                </a:solidFill>
                <a:latin typeface="Calibri"/>
              </a:rPr>
              <a:t>flow_duration is extremely right-skewed (skew = 128.39) and piecewise in nature; recursive partitioning matches this far better than any linear, regularized, or margin-based model.</a:t>
            </a:r>
          </a:p>
        </p:txBody>
      </p:sp>
      <p:sp>
        <p:nvSpPr>
          <p:cNvPr id="13" name="TextBox 12"/>
          <p:cNvSpPr txBox="1"/>
          <p:nvPr/>
        </p:nvSpPr>
        <p:spPr>
          <a:xfrm>
            <a:off x="411480" y="3493008"/>
            <a:ext cx="5394960" cy="219456"/>
          </a:xfrm>
          <a:prstGeom prst="rect">
            <a:avLst/>
          </a:prstGeom>
          <a:noFill/>
        </p:spPr>
        <p:txBody>
          <a:bodyPr wrap="square" anchor="t" lIns="0" rIns="0" tIns="0" bIns="0">
            <a:spAutoFit/>
          </a:bodyPr>
          <a:lstStyle/>
          <a:p>
            <a:pPr algn="l"/>
            <a:r>
              <a:rPr sz="1000" b="1" i="0">
                <a:solidFill>
                  <a:srgbClr val="1D4E89"/>
                </a:solidFill>
                <a:latin typeface="Calibri"/>
              </a:rPr>
              <a:t>ENSEMBLES</a:t>
            </a:r>
          </a:p>
        </p:txBody>
      </p:sp>
      <p:sp>
        <p:nvSpPr>
          <p:cNvPr id="14" name="TextBox 13"/>
          <p:cNvSpPr txBox="1"/>
          <p:nvPr/>
        </p:nvSpPr>
        <p:spPr>
          <a:xfrm>
            <a:off x="411480" y="3721608"/>
            <a:ext cx="5394960" cy="640080"/>
          </a:xfrm>
          <a:prstGeom prst="rect">
            <a:avLst/>
          </a:prstGeom>
          <a:noFill/>
        </p:spPr>
        <p:txBody>
          <a:bodyPr wrap="square" anchor="t" lIns="0" rIns="0" tIns="0" bIns="0">
            <a:spAutoFit/>
          </a:bodyPr>
          <a:lstStyle/>
          <a:p>
            <a:pPr algn="l"/>
            <a:r>
              <a:rPr sz="1080" b="0" i="0">
                <a:solidFill>
                  <a:srgbClr val="22272E"/>
                </a:solidFill>
                <a:latin typeface="Calibri"/>
              </a:rPr>
              <a:t>Tuned Random Forest is the best ensemble (R² = 0.3740) but leaf-averaging smooths rare, extreme-duration outliers, keeping it behind a single tree.</a:t>
            </a:r>
          </a:p>
        </p:txBody>
      </p:sp>
      <p:sp>
        <p:nvSpPr>
          <p:cNvPr id="15" name="TextBox 14"/>
          <p:cNvSpPr txBox="1"/>
          <p:nvPr/>
        </p:nvSpPr>
        <p:spPr>
          <a:xfrm>
            <a:off x="411480" y="4416552"/>
            <a:ext cx="5394960" cy="219456"/>
          </a:xfrm>
          <a:prstGeom prst="rect">
            <a:avLst/>
          </a:prstGeom>
          <a:noFill/>
        </p:spPr>
        <p:txBody>
          <a:bodyPr wrap="square" anchor="t" lIns="0" rIns="0" tIns="0" bIns="0">
            <a:spAutoFit/>
          </a:bodyPr>
          <a:lstStyle/>
          <a:p>
            <a:pPr algn="l"/>
            <a:r>
              <a:rPr sz="1000" b="1" i="0">
                <a:solidFill>
                  <a:srgbClr val="1D4E89"/>
                </a:solidFill>
                <a:latin typeface="Calibri"/>
              </a:rPr>
              <a:t>LINEAR MODELS</a:t>
            </a:r>
          </a:p>
        </p:txBody>
      </p:sp>
      <p:sp>
        <p:nvSpPr>
          <p:cNvPr id="16" name="TextBox 15"/>
          <p:cNvSpPr txBox="1"/>
          <p:nvPr/>
        </p:nvSpPr>
        <p:spPr>
          <a:xfrm>
            <a:off x="411480" y="4645152"/>
            <a:ext cx="5394960" cy="640080"/>
          </a:xfrm>
          <a:prstGeom prst="rect">
            <a:avLst/>
          </a:prstGeom>
          <a:noFill/>
        </p:spPr>
        <p:txBody>
          <a:bodyPr wrap="square" anchor="t" lIns="0" rIns="0" tIns="0" bIns="0">
            <a:spAutoFit/>
          </a:bodyPr>
          <a:lstStyle/>
          <a:p>
            <a:pPr algn="l"/>
            <a:r>
              <a:rPr sz="1080" b="0" i="0">
                <a:solidFill>
                  <a:srgbClr val="22272E"/>
                </a:solidFill>
                <a:latin typeface="Calibri"/>
              </a:rPr>
              <a:t>OLS, Ridge, Lasso, ElasticNet and linear SVR all post negative R² — the packet-volume-to-duration relationship is fundamentally non-linear.</a:t>
            </a:r>
          </a:p>
        </p:txBody>
      </p:sp>
      <p:sp>
        <p:nvSpPr>
          <p:cNvPr id="17" name="Rectangle 16"/>
          <p:cNvSpPr/>
          <p:nvPr/>
        </p:nvSpPr>
        <p:spPr>
          <a:xfrm>
            <a:off x="6355080" y="1280160"/>
            <a:ext cx="5394960" cy="384048"/>
          </a:xfrm>
          <a:prstGeom prst="rect">
            <a:avLst/>
          </a:prstGeom>
          <a:solidFill>
            <a:srgbClr val="0F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353312"/>
            <a:ext cx="5029200" cy="256032"/>
          </a:xfrm>
          <a:prstGeom prst="rect">
            <a:avLst/>
          </a:prstGeom>
          <a:noFill/>
        </p:spPr>
        <p:txBody>
          <a:bodyPr wrap="square" anchor="t" lIns="0" rIns="0" tIns="0" bIns="0">
            <a:spAutoFit/>
          </a:bodyPr>
          <a:lstStyle/>
          <a:p>
            <a:pPr algn="l"/>
            <a:r>
              <a:rPr sz="1400" b="1" i="0">
                <a:solidFill>
                  <a:srgbClr val="FFFFFF"/>
                </a:solidFill>
                <a:latin typeface="Calibri"/>
              </a:rPr>
              <a:t>CLASSIFICATION TRACK</a:t>
            </a:r>
          </a:p>
        </p:txBody>
      </p:sp>
      <p:sp>
        <p:nvSpPr>
          <p:cNvPr id="19" name="TextBox 18"/>
          <p:cNvSpPr txBox="1"/>
          <p:nvPr/>
        </p:nvSpPr>
        <p:spPr>
          <a:xfrm>
            <a:off x="6355080" y="1828800"/>
            <a:ext cx="5394960" cy="219456"/>
          </a:xfrm>
          <a:prstGeom prst="rect">
            <a:avLst/>
          </a:prstGeom>
          <a:noFill/>
        </p:spPr>
        <p:txBody>
          <a:bodyPr wrap="square" anchor="t" lIns="0" rIns="0" tIns="0" bIns="0">
            <a:spAutoFit/>
          </a:bodyPr>
          <a:lstStyle/>
          <a:p>
            <a:pPr algn="l"/>
            <a:r>
              <a:rPr sz="1000" b="1" i="0">
                <a:solidFill>
                  <a:srgbClr val="0F6B63"/>
                </a:solidFill>
                <a:latin typeface="Calibri"/>
              </a:rPr>
              <a:t>BEST MODEL</a:t>
            </a:r>
          </a:p>
        </p:txBody>
      </p:sp>
      <p:sp>
        <p:nvSpPr>
          <p:cNvPr id="20" name="TextBox 19"/>
          <p:cNvSpPr txBox="1"/>
          <p:nvPr/>
        </p:nvSpPr>
        <p:spPr>
          <a:xfrm>
            <a:off x="6355080" y="2057400"/>
            <a:ext cx="5394960" cy="457200"/>
          </a:xfrm>
          <a:prstGeom prst="rect">
            <a:avLst/>
          </a:prstGeom>
          <a:noFill/>
        </p:spPr>
        <p:txBody>
          <a:bodyPr wrap="square" anchor="t" lIns="0" rIns="0" tIns="0" bIns="0">
            <a:spAutoFit/>
          </a:bodyPr>
          <a:lstStyle/>
          <a:p>
            <a:pPr algn="l"/>
            <a:r>
              <a:rPr sz="1080" b="0" i="0">
                <a:solidFill>
                  <a:srgbClr val="22272E"/>
                </a:solidFill>
                <a:latin typeface="Calibri"/>
              </a:rPr>
              <a:t>Support Vector Machine (RBF, C=10) — Accuracy = 92.36%, Macro F1 = 0.9345, ROC-AUC = 0.9931 — best on every reported metric.</a:t>
            </a:r>
          </a:p>
        </p:txBody>
      </p:sp>
      <p:sp>
        <p:nvSpPr>
          <p:cNvPr id="21" name="TextBox 20"/>
          <p:cNvSpPr txBox="1"/>
          <p:nvPr/>
        </p:nvSpPr>
        <p:spPr>
          <a:xfrm>
            <a:off x="6355080" y="2569464"/>
            <a:ext cx="5394960" cy="219456"/>
          </a:xfrm>
          <a:prstGeom prst="rect">
            <a:avLst/>
          </a:prstGeom>
          <a:noFill/>
        </p:spPr>
        <p:txBody>
          <a:bodyPr wrap="square" anchor="t" lIns="0" rIns="0" tIns="0" bIns="0">
            <a:spAutoFit/>
          </a:bodyPr>
          <a:lstStyle/>
          <a:p>
            <a:pPr algn="l"/>
            <a:r>
              <a:rPr sz="1000" b="1" i="0">
                <a:solidFill>
                  <a:srgbClr val="0F6B63"/>
                </a:solidFill>
                <a:latin typeface="Calibri"/>
              </a:rPr>
              <a:t>WHY IT WINS</a:t>
            </a:r>
          </a:p>
        </p:txBody>
      </p:sp>
      <p:sp>
        <p:nvSpPr>
          <p:cNvPr id="22" name="TextBox 21"/>
          <p:cNvSpPr txBox="1"/>
          <p:nvPr/>
        </p:nvSpPr>
        <p:spPr>
          <a:xfrm>
            <a:off x="6355080" y="2798064"/>
            <a:ext cx="5394960" cy="640080"/>
          </a:xfrm>
          <a:prstGeom prst="rect">
            <a:avLst/>
          </a:prstGeom>
          <a:noFill/>
        </p:spPr>
        <p:txBody>
          <a:bodyPr wrap="square" anchor="t" lIns="0" rIns="0" tIns="0" bIns="0">
            <a:spAutoFit/>
          </a:bodyPr>
          <a:lstStyle/>
          <a:p>
            <a:pPr algn="l"/>
            <a:r>
              <a:rPr sz="1080" b="0" i="0">
                <a:solidFill>
                  <a:srgbClr val="22272E"/>
                </a:solidFill>
                <a:latin typeface="Calibri"/>
              </a:rPr>
              <a:t>The RBF kernel resolves curved, overlapping boundaries between visually similar cultivars (SIRA vs. DERMASON) better than a linear decision surface.</a:t>
            </a:r>
          </a:p>
        </p:txBody>
      </p:sp>
      <p:sp>
        <p:nvSpPr>
          <p:cNvPr id="23" name="TextBox 22"/>
          <p:cNvSpPr txBox="1"/>
          <p:nvPr/>
        </p:nvSpPr>
        <p:spPr>
          <a:xfrm>
            <a:off x="6355080" y="3493008"/>
            <a:ext cx="5394960" cy="219456"/>
          </a:xfrm>
          <a:prstGeom prst="rect">
            <a:avLst/>
          </a:prstGeom>
          <a:noFill/>
        </p:spPr>
        <p:txBody>
          <a:bodyPr wrap="square" anchor="t" lIns="0" rIns="0" tIns="0" bIns="0">
            <a:spAutoFit/>
          </a:bodyPr>
          <a:lstStyle/>
          <a:p>
            <a:pPr algn="l"/>
            <a:r>
              <a:rPr sz="1000" b="1" i="0">
                <a:solidFill>
                  <a:srgbClr val="0F6B63"/>
                </a:solidFill>
                <a:latin typeface="Calibri"/>
              </a:rPr>
              <a:t>OVERALL TIER</a:t>
            </a:r>
          </a:p>
        </p:txBody>
      </p:sp>
      <p:sp>
        <p:nvSpPr>
          <p:cNvPr id="24" name="TextBox 23"/>
          <p:cNvSpPr txBox="1"/>
          <p:nvPr/>
        </p:nvSpPr>
        <p:spPr>
          <a:xfrm>
            <a:off x="6355080" y="3721608"/>
            <a:ext cx="5394960" cy="640080"/>
          </a:xfrm>
          <a:prstGeom prst="rect">
            <a:avLst/>
          </a:prstGeom>
          <a:noFill/>
        </p:spPr>
        <p:txBody>
          <a:bodyPr wrap="square" anchor="t" lIns="0" rIns="0" tIns="0" bIns="0">
            <a:spAutoFit/>
          </a:bodyPr>
          <a:lstStyle/>
          <a:p>
            <a:pPr algn="l"/>
            <a:r>
              <a:rPr sz="1080" b="0" i="0">
                <a:solidFill>
                  <a:srgbClr val="22272E"/>
                </a:solidFill>
                <a:latin typeface="Calibri"/>
              </a:rPr>
              <a:t>4 of 5 Part-A classifiers exceed 90% test accuracy — morphological features (area, perimeter, shape factors) are highly discriminative for this task.</a:t>
            </a:r>
          </a:p>
        </p:txBody>
      </p:sp>
      <p:sp>
        <p:nvSpPr>
          <p:cNvPr id="25" name="TextBox 24"/>
          <p:cNvSpPr txBox="1"/>
          <p:nvPr/>
        </p:nvSpPr>
        <p:spPr>
          <a:xfrm>
            <a:off x="6355080" y="4416552"/>
            <a:ext cx="5394960" cy="219456"/>
          </a:xfrm>
          <a:prstGeom prst="rect">
            <a:avLst/>
          </a:prstGeom>
          <a:noFill/>
        </p:spPr>
        <p:txBody>
          <a:bodyPr wrap="square" anchor="t" lIns="0" rIns="0" tIns="0" bIns="0">
            <a:spAutoFit/>
          </a:bodyPr>
          <a:lstStyle/>
          <a:p>
            <a:pPr algn="l"/>
            <a:r>
              <a:rPr sz="1000" b="1" i="0">
                <a:solidFill>
                  <a:srgbClr val="0F6B63"/>
                </a:solidFill>
                <a:latin typeface="Calibri"/>
              </a:rPr>
              <a:t>WEAKEST MODEL</a:t>
            </a:r>
          </a:p>
        </p:txBody>
      </p:sp>
      <p:sp>
        <p:nvSpPr>
          <p:cNvPr id="26" name="TextBox 25"/>
          <p:cNvSpPr txBox="1"/>
          <p:nvPr/>
        </p:nvSpPr>
        <p:spPr>
          <a:xfrm>
            <a:off x="6355080" y="4645152"/>
            <a:ext cx="5394960" cy="640080"/>
          </a:xfrm>
          <a:prstGeom prst="rect">
            <a:avLst/>
          </a:prstGeom>
          <a:noFill/>
        </p:spPr>
        <p:txBody>
          <a:bodyPr wrap="square" anchor="t" lIns="0" rIns="0" tIns="0" bIns="0">
            <a:spAutoFit/>
          </a:bodyPr>
          <a:lstStyle/>
          <a:p>
            <a:pPr algn="l"/>
            <a:r>
              <a:rPr sz="1080" b="0" i="0">
                <a:solidFill>
                  <a:srgbClr val="22272E"/>
                </a:solidFill>
                <a:latin typeface="Calibri"/>
              </a:rPr>
              <a:t>Naive Bayes (Gaussian) trails at 75.45% accuracy — its independence assumption is violated by size features correlated at r ≥ 0.95, though it still reaches a strong 0.9622 ROC-AUC.</a:t>
            </a:r>
          </a:p>
        </p:txBody>
      </p:sp>
      <p:sp>
        <p:nvSpPr>
          <p:cNvPr id="27" name="TextBox 26"/>
          <p:cNvSpPr txBox="1"/>
          <p:nvPr/>
        </p:nvSpPr>
        <p:spPr>
          <a:xfrm>
            <a:off x="6355080" y="5340096"/>
            <a:ext cx="5394960" cy="219456"/>
          </a:xfrm>
          <a:prstGeom prst="rect">
            <a:avLst/>
          </a:prstGeom>
          <a:noFill/>
        </p:spPr>
        <p:txBody>
          <a:bodyPr wrap="square" anchor="t" lIns="0" rIns="0" tIns="0" bIns="0">
            <a:spAutoFit/>
          </a:bodyPr>
          <a:lstStyle/>
          <a:p>
            <a:pPr algn="l"/>
            <a:r>
              <a:rPr sz="1000" b="1" i="0">
                <a:solidFill>
                  <a:srgbClr val="0F6B63"/>
                </a:solidFill>
                <a:latin typeface="Calibri"/>
              </a:rPr>
              <a:t>CLASS IMBALANCE</a:t>
            </a:r>
          </a:p>
        </p:txBody>
      </p:sp>
      <p:sp>
        <p:nvSpPr>
          <p:cNvPr id="28" name="TextBox 27"/>
          <p:cNvSpPr txBox="1"/>
          <p:nvPr/>
        </p:nvSpPr>
        <p:spPr>
          <a:xfrm>
            <a:off x="6355080" y="5568696"/>
            <a:ext cx="5394960" cy="640080"/>
          </a:xfrm>
          <a:prstGeom prst="rect">
            <a:avLst/>
          </a:prstGeom>
          <a:noFill/>
        </p:spPr>
        <p:txBody>
          <a:bodyPr wrap="square" anchor="t" lIns="0" rIns="0" tIns="0" bIns="0">
            <a:spAutoFit/>
          </a:bodyPr>
          <a:lstStyle/>
          <a:p>
            <a:pPr algn="l"/>
            <a:r>
              <a:rPr sz="1080" b="0" i="0">
                <a:solidFill>
                  <a:srgbClr val="22272E"/>
                </a:solidFill>
                <a:latin typeface="Calibri"/>
              </a:rPr>
              <a:t>BOMBAY (3.9% of data) is classified near-perfectly by every model due to its distinctly larger size; confusion concentrates in SIRA vs. DERMASON.</a:t>
            </a:r>
          </a:p>
        </p:txBody>
      </p:sp>
      <p:sp>
        <p:nvSpPr>
          <p:cNvPr id="29" name="Rectangle 28"/>
          <p:cNvSpPr/>
          <p:nvPr/>
        </p:nvSpPr>
        <p:spPr>
          <a:xfrm>
            <a:off x="411480" y="5989320"/>
            <a:ext cx="11365992" cy="25400"/>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6099048"/>
            <a:ext cx="11365992" cy="365760"/>
          </a:xfrm>
          <a:prstGeom prst="rect">
            <a:avLst/>
          </a:prstGeom>
          <a:noFill/>
        </p:spPr>
        <p:txBody>
          <a:bodyPr wrap="square" anchor="t" lIns="0" rIns="0" tIns="0" bIns="0">
            <a:spAutoFit/>
          </a:bodyPr>
          <a:lstStyle/>
          <a:p>
            <a:pPr algn="ctr"/>
            <a:r>
              <a:rPr sz="1100" b="0" i="1">
                <a:solidFill>
                  <a:srgbClr val="454F5B"/>
                </a:solidFill>
                <a:latin typeface="Calibri"/>
              </a:rPr>
              <a:t>Both tracks followed a leakage-free, single held-out-evaluation protocol with cross-validated hyperparameter tuning — results here are reproducible end to end.</a:t>
            </a:r>
          </a:p>
        </p:txBody>
      </p:sp>
      <p:pic>
        <p:nvPicPr>
          <p:cNvPr id="31" name="Picture 30" descr="1.png"/>
          <p:cNvPicPr>
            <a:picLocks noChangeAspect="1"/>
          </p:cNvPicPr>
          <p:nvPr/>
        </p:nvPicPr>
        <p:blipFill>
          <a:blip r:embed="rId2"/>
          <a:stretch>
            <a:fillRect/>
          </a:stretch>
        </p:blipFill>
        <p:spPr>
          <a:xfrm>
            <a:off x="411480" y="6528816"/>
            <a:ext cx="274320" cy="274320"/>
          </a:xfrm>
          <a:prstGeom prst="rect">
            <a:avLst/>
          </a:prstGeom>
        </p:spPr>
      </p:pic>
      <p:sp>
        <p:nvSpPr>
          <p:cNvPr id="32" name="TextBox 31"/>
          <p:cNvSpPr txBox="1"/>
          <p:nvPr/>
        </p:nvSpPr>
        <p:spPr>
          <a:xfrm>
            <a:off x="731520" y="6565392"/>
            <a:ext cx="5943600" cy="228600"/>
          </a:xfrm>
          <a:prstGeom prst="rect">
            <a:avLst/>
          </a:prstGeom>
          <a:noFill/>
        </p:spPr>
        <p:txBody>
          <a:bodyPr wrap="square" anchor="t" lIns="0" rIns="0" tIns="0" bIns="0">
            <a:spAutoFit/>
          </a:bodyPr>
          <a:lstStyle/>
          <a:p>
            <a:pPr algn="l"/>
            <a:r>
              <a:rPr sz="900" b="0" i="0">
                <a:solidFill>
                  <a:srgbClr val="9AA3AF"/>
                </a:solidFill>
                <a:latin typeface="Calibri"/>
              </a:rPr>
              <a:t>Amrita Vishwa Vidyapeetham  •  ML Capstone Review 1</a:t>
            </a:r>
          </a:p>
        </p:txBody>
      </p:sp>
      <p:sp>
        <p:nvSpPr>
          <p:cNvPr id="33" name="TextBox 32"/>
          <p:cNvSpPr txBox="1"/>
          <p:nvPr/>
        </p:nvSpPr>
        <p:spPr>
          <a:xfrm>
            <a:off x="10607040" y="6565392"/>
            <a:ext cx="1188720" cy="228600"/>
          </a:xfrm>
          <a:prstGeom prst="rect">
            <a:avLst/>
          </a:prstGeom>
          <a:noFill/>
        </p:spPr>
        <p:txBody>
          <a:bodyPr wrap="square" anchor="t" lIns="0" rIns="0" tIns="0" bIns="0">
            <a:spAutoFit/>
          </a:bodyPr>
          <a:lstStyle/>
          <a:p>
            <a:pPr algn="r"/>
            <a:r>
              <a:rPr sz="900" b="0" i="0">
                <a:solidFill>
                  <a:srgbClr val="9AA3AF"/>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